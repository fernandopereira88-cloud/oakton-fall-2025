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24"/>
  </p:notesMasterIdLst>
  <p:sldIdLst>
    <p:sldId id="256" r:id="rId2"/>
    <p:sldId id="312" r:id="rId3"/>
    <p:sldId id="290" r:id="rId4"/>
    <p:sldId id="289" r:id="rId5"/>
    <p:sldId id="259" r:id="rId6"/>
    <p:sldId id="311" r:id="rId7"/>
    <p:sldId id="263" r:id="rId8"/>
    <p:sldId id="306" r:id="rId9"/>
    <p:sldId id="292" r:id="rId10"/>
    <p:sldId id="264" r:id="rId11"/>
    <p:sldId id="293" r:id="rId12"/>
    <p:sldId id="294" r:id="rId13"/>
    <p:sldId id="305" r:id="rId14"/>
    <p:sldId id="307" r:id="rId15"/>
    <p:sldId id="300" r:id="rId16"/>
    <p:sldId id="301" r:id="rId17"/>
    <p:sldId id="308" r:id="rId18"/>
    <p:sldId id="309" r:id="rId19"/>
    <p:sldId id="303" r:id="rId20"/>
    <p:sldId id="304" r:id="rId21"/>
    <p:sldId id="296" r:id="rId22"/>
    <p:sldId id="310" r:id="rId23"/>
  </p:sldIdLst>
  <p:sldSz cx="9144000" cy="6858000" type="screen4x3"/>
  <p:notesSz cx="6858000" cy="9144000"/>
  <p:embeddedFontLst>
    <p:embeddedFont>
      <p:font typeface="Libre Baskerville" panose="020B0604020202020204" charset="0"/>
      <p:regular r:id="rId25"/>
      <p:bold r:id="rId26"/>
      <p:italic r:id="rId27"/>
    </p:embeddedFont>
    <p:embeddedFont>
      <p:font typeface="Calibri Light" panose="020F0302020204030204" pitchFamily="34" charset="0"/>
      <p:regular r:id="rId28"/>
      <p:italic r:id="rId29"/>
    </p:embeddedFont>
    <p:embeddedFont>
      <p:font typeface="Calibri" panose="020F0502020204030204" pitchFamily="34" charset="0"/>
      <p:regular r:id="rId30"/>
      <p:bold r:id="rId31"/>
      <p:italic r:id="rId32"/>
      <p:boldItalic r:id="rId33"/>
    </p:embeddedFont>
    <p:embeddedFont>
      <p:font typeface="ＭＳ Ｐゴシック" panose="020B0600070205080204" pitchFamily="34" charset="-128"/>
      <p:regular r:id="rId34"/>
    </p:embeddedFont>
    <p:embeddedFont>
      <p:font typeface="Cambria Math" panose="02040503050406030204" pitchFamily="18" charset="0"/>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54A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2037" autoAdjust="0"/>
  </p:normalViewPr>
  <p:slideViewPr>
    <p:cSldViewPr>
      <p:cViewPr varScale="1">
        <p:scale>
          <a:sx n="78" d="100"/>
          <a:sy n="78" d="100"/>
        </p:scale>
        <p:origin x="2574" y="96"/>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1"/>
        <p:cNvGrpSpPr/>
        <p:nvPr/>
      </p:nvGrpSpPr>
      <p:grpSpPr>
        <a:xfrm>
          <a:off x="0" y="0"/>
          <a:ext cx="0" cy="0"/>
          <a:chOff x="0" y="0"/>
          <a:chExt cx="0" cy="0"/>
        </a:xfrm>
      </p:grpSpPr>
      <p:sp>
        <p:nvSpPr>
          <p:cNvPr id="2" name="Shape 2"/>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 name="Shape 3"/>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a:spcBef>
                <a:spcPts val="0"/>
              </a:spcBef>
              <a:defRPr sz="1100"/>
            </a:lvl1pPr>
            <a:lvl2pPr>
              <a:spcBef>
                <a:spcPts val="0"/>
              </a:spcBef>
              <a:defRPr sz="1100"/>
            </a:lvl2pPr>
            <a:lvl3pPr>
              <a:spcBef>
                <a:spcPts val="0"/>
              </a:spcBef>
              <a:defRPr sz="1100"/>
            </a:lvl3pPr>
            <a:lvl4pPr>
              <a:spcBef>
                <a:spcPts val="0"/>
              </a:spcBef>
              <a:defRPr sz="1100"/>
            </a:lvl4pPr>
            <a:lvl5pPr>
              <a:spcBef>
                <a:spcPts val="0"/>
              </a:spcBef>
              <a:defRPr sz="1100"/>
            </a:lvl5pPr>
            <a:lvl6pPr>
              <a:spcBef>
                <a:spcPts val="0"/>
              </a:spcBef>
              <a:defRPr sz="1100"/>
            </a:lvl6pPr>
            <a:lvl7pPr>
              <a:spcBef>
                <a:spcPts val="0"/>
              </a:spcBef>
              <a:defRPr sz="1100"/>
            </a:lvl7pPr>
            <a:lvl8pPr>
              <a:spcBef>
                <a:spcPts val="0"/>
              </a:spcBef>
              <a:defRPr sz="1100"/>
            </a:lvl8pPr>
            <a:lvl9pPr>
              <a:spcBef>
                <a:spcPts val="0"/>
              </a:spcBef>
              <a:defRPr sz="1100"/>
            </a:lvl9pPr>
          </a:lstStyle>
          <a:p>
            <a:endParaRPr/>
          </a:p>
        </p:txBody>
      </p:sp>
    </p:spTree>
    <p:extLst>
      <p:ext uri="{BB962C8B-B14F-4D97-AF65-F5344CB8AC3E}">
        <p14:creationId xmlns:p14="http://schemas.microsoft.com/office/powerpoint/2010/main" val="1151733965"/>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Shape 3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37" name="Shape 37"/>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35109602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sz="1100" b="0" i="0" kern="1200" dirty="0" smtClean="0">
                <a:solidFill>
                  <a:schemeClr val="tx1"/>
                </a:solidFill>
                <a:effectLst/>
                <a:latin typeface="+mn-lt"/>
                <a:ea typeface="+mn-ea"/>
                <a:cs typeface="+mn-cs"/>
              </a:rPr>
              <a:t>“Cryptography." </a:t>
            </a:r>
            <a:r>
              <a:rPr lang="en-US" sz="1100" b="0" i="1" kern="1200" dirty="0" smtClean="0">
                <a:solidFill>
                  <a:schemeClr val="tx1"/>
                </a:solidFill>
                <a:effectLst/>
                <a:latin typeface="+mn-lt"/>
                <a:ea typeface="+mn-ea"/>
                <a:cs typeface="+mn-cs"/>
              </a:rPr>
              <a:t>Wikipedia: The Free Encyclopedia</a:t>
            </a:r>
            <a:r>
              <a:rPr lang="en-US" sz="1100" b="0" i="0" kern="1200" dirty="0" smtClean="0">
                <a:solidFill>
                  <a:schemeClr val="tx1"/>
                </a:solidFill>
                <a:effectLst/>
                <a:latin typeface="+mn-lt"/>
                <a:ea typeface="+mn-ea"/>
                <a:cs typeface="+mn-cs"/>
              </a:rPr>
              <a:t>. Wikimedia Foundation, Inc. 30 Nov 2016. &lt;https://en.wikipedia.org/wiki/Cryptography&gt;.</a:t>
            </a:r>
            <a:endParaRPr lang="en-US" dirty="0"/>
          </a:p>
        </p:txBody>
      </p:sp>
    </p:spTree>
    <p:extLst>
      <p:ext uri="{BB962C8B-B14F-4D97-AF65-F5344CB8AC3E}">
        <p14:creationId xmlns:p14="http://schemas.microsoft.com/office/powerpoint/2010/main" val="6905883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Shape 74"/>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75" name="Shape 75"/>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23585958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Shape 8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r>
              <a:rPr lang="en-US" dirty="0" smtClean="0"/>
              <a:t>The distinguishing</a:t>
            </a:r>
            <a:r>
              <a:rPr lang="en-US" baseline="0" dirty="0" smtClean="0"/>
              <a:t> feature of symmetric key cryptography is the use of the same key for encryption and decryption. Note the illustrations of </a:t>
            </a:r>
            <a:r>
              <a:rPr lang="en-US" i="1" baseline="0" dirty="0" smtClean="0"/>
              <a:t>plaintext</a:t>
            </a:r>
            <a:r>
              <a:rPr lang="en-US" baseline="0" dirty="0" smtClean="0"/>
              <a:t>, </a:t>
            </a:r>
            <a:r>
              <a:rPr lang="en-US" i="1" baseline="0" dirty="0" err="1" smtClean="0"/>
              <a:t>ciphertext</a:t>
            </a:r>
            <a:r>
              <a:rPr lang="en-US" i="1" baseline="0" dirty="0" smtClean="0"/>
              <a:t>,</a:t>
            </a:r>
            <a:r>
              <a:rPr lang="en-US" baseline="0" dirty="0" smtClean="0"/>
              <a:t> and </a:t>
            </a:r>
            <a:r>
              <a:rPr lang="en-US" i="1" baseline="0" dirty="0" smtClean="0"/>
              <a:t>key</a:t>
            </a:r>
            <a:r>
              <a:rPr lang="en-US" baseline="0" dirty="0" smtClean="0"/>
              <a:t> on the slide.</a:t>
            </a:r>
            <a:endParaRPr dirty="0"/>
          </a:p>
        </p:txBody>
      </p:sp>
      <p:sp>
        <p:nvSpPr>
          <p:cNvPr id="81" name="Shape 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14394333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Shape 9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r>
              <a:rPr lang="en-US" dirty="0" smtClean="0"/>
              <a:t>Examples of </a:t>
            </a:r>
            <a:r>
              <a:rPr lang="en-US" baseline="0" dirty="0" smtClean="0"/>
              <a:t>a secure channel could be a trusted carrier carrying and delivering the key in a locked case or an untapped phone line which the two parties use to agree what the key will be.</a:t>
            </a:r>
          </a:p>
        </p:txBody>
      </p:sp>
      <p:sp>
        <p:nvSpPr>
          <p:cNvPr id="99" name="Shape 9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15464736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Shape 104"/>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105" name="Shape 105"/>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26461076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Shape 11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r>
              <a:rPr lang="en-US" dirty="0" smtClean="0">
                <a:latin typeface="Calibri" panose="020F0502020204030204" pitchFamily="34" charset="0"/>
                <a:cs typeface="Calibri" panose="020F0502020204030204" pitchFamily="34" charset="0"/>
              </a:rPr>
              <a:t>Sender=</a:t>
            </a:r>
            <a:r>
              <a:rPr lang="en-US" baseline="0" dirty="0" smtClean="0">
                <a:latin typeface="Calibri" panose="020F0502020204030204" pitchFamily="34" charset="0"/>
                <a:cs typeface="Calibri" panose="020F0502020204030204" pitchFamily="34" charset="0"/>
              </a:rPr>
              <a:t> Alice</a:t>
            </a:r>
          </a:p>
          <a:p>
            <a:pPr>
              <a:spcBef>
                <a:spcPts val="0"/>
              </a:spcBef>
              <a:buNone/>
            </a:pPr>
            <a:r>
              <a:rPr lang="en-US" baseline="0" dirty="0" smtClean="0">
                <a:latin typeface="Calibri" panose="020F0502020204030204" pitchFamily="34" charset="0"/>
                <a:cs typeface="Calibri" panose="020F0502020204030204" pitchFamily="34" charset="0"/>
              </a:rPr>
              <a:t>Recipient= Bob</a:t>
            </a:r>
          </a:p>
          <a:p>
            <a:pPr>
              <a:spcBef>
                <a:spcPts val="0"/>
              </a:spcBef>
              <a:buNone/>
            </a:pPr>
            <a:r>
              <a:rPr lang="en-US" baseline="0" dirty="0" smtClean="0">
                <a:latin typeface="Calibri" panose="020F0502020204030204" pitchFamily="34" charset="0"/>
                <a:cs typeface="Calibri" panose="020F0502020204030204" pitchFamily="34" charset="0"/>
              </a:rPr>
              <a:t>Contrast this with the Symmetric Key diagram.</a:t>
            </a:r>
          </a:p>
          <a:p>
            <a:pPr>
              <a:spcBef>
                <a:spcPts val="0"/>
              </a:spcBef>
              <a:buNone/>
            </a:pPr>
            <a:endParaRPr dirty="0"/>
          </a:p>
        </p:txBody>
      </p:sp>
      <p:sp>
        <p:nvSpPr>
          <p:cNvPr id="111" name="Shape 11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13179535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dirty="0" smtClean="0"/>
              <a:t>These algorithms are used to encrypt the values</a:t>
            </a:r>
            <a:r>
              <a:rPr lang="en-US" baseline="0" dirty="0" smtClean="0"/>
              <a:t> (possibly keys) that need to be shared between two users who want to communicate privately over a public channel. The parties do not encrypt/decrypt all messages using these algorithms (that would be too expensive time-wise), but just some secret values that are used to set up keys or are themselves secret keys.</a:t>
            </a:r>
            <a:endParaRPr lang="en-US" dirty="0"/>
          </a:p>
        </p:txBody>
      </p:sp>
    </p:spTree>
    <p:extLst>
      <p:ext uri="{BB962C8B-B14F-4D97-AF65-F5344CB8AC3E}">
        <p14:creationId xmlns:p14="http://schemas.microsoft.com/office/powerpoint/2010/main" val="15132794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dirty="0" smtClean="0"/>
              <a:t>Note the math involved</a:t>
            </a:r>
            <a:r>
              <a:rPr lang="en-US" baseline="0" dirty="0" smtClean="0"/>
              <a:t> in this algorithm. Students are not expected to understand what this math means. Although it’s not required, this algorithm can be contrasted with the slides that show DES or AES algorithms (from Unit 1) to show how math is involvement in public key algorithms.</a:t>
            </a:r>
            <a:endParaRPr lang="en-US" dirty="0"/>
          </a:p>
        </p:txBody>
      </p:sp>
    </p:spTree>
    <p:extLst>
      <p:ext uri="{BB962C8B-B14F-4D97-AF65-F5344CB8AC3E}">
        <p14:creationId xmlns:p14="http://schemas.microsoft.com/office/powerpoint/2010/main" val="17984145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dirty="0" smtClean="0"/>
              <a:t>Note that no</a:t>
            </a:r>
            <a:r>
              <a:rPr lang="en-US" baseline="0" dirty="0" smtClean="0"/>
              <a:t> data is exchanged between the two parties except for the public keys before agreeing on a key.</a:t>
            </a:r>
            <a:endParaRPr lang="en-US" dirty="0"/>
          </a:p>
        </p:txBody>
      </p:sp>
    </p:spTree>
    <p:extLst>
      <p:ext uri="{BB962C8B-B14F-4D97-AF65-F5344CB8AC3E}">
        <p14:creationId xmlns:p14="http://schemas.microsoft.com/office/powerpoint/2010/main" val="31653511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dirty="0" smtClean="0"/>
              <a:t>The parties who want to agree</a:t>
            </a:r>
            <a:r>
              <a:rPr lang="en-US" baseline="0" dirty="0" smtClean="0"/>
              <a:t> on a shared secret first exchange their public keys. Then, using their own private key and the other party’s public key, they calculate a value. The result of this calculation at both ends is the shared secret. The fact that they both calculate the same value is achieved by the mathematics used in the scheme.</a:t>
            </a:r>
            <a:endParaRPr lang="en-US" dirty="0"/>
          </a:p>
        </p:txBody>
      </p:sp>
    </p:spTree>
    <p:extLst>
      <p:ext uri="{BB962C8B-B14F-4D97-AF65-F5344CB8AC3E}">
        <p14:creationId xmlns:p14="http://schemas.microsoft.com/office/powerpoint/2010/main" val="25527307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9118818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xfrm>
            <a:off x="3884613" y="8685213"/>
            <a:ext cx="2971800" cy="457200"/>
          </a:xfrm>
          <a:prstGeom prst="rect">
            <a:avLst/>
          </a:prstGeom>
          <a:noFill/>
        </p:spPr>
        <p:txBody>
          <a:bodyPr/>
          <a:lstStyle/>
          <a:p>
            <a:fld id="{500A6822-6F76-464F-8448-071F9DB1E704}" type="slidenum">
              <a:rPr lang="en-AU">
                <a:latin typeface="Arial" pitchFamily="-84" charset="0"/>
              </a:rPr>
              <a:pPr/>
              <a:t>19</a:t>
            </a:fld>
            <a:endParaRPr lang="en-AU" dirty="0">
              <a:latin typeface="Arial" pitchFamily="-84" charset="0"/>
            </a:endParaRPr>
          </a:p>
        </p:txBody>
      </p:sp>
      <p:sp>
        <p:nvSpPr>
          <p:cNvPr id="29699" name="Rectangle 1026"/>
          <p:cNvSpPr>
            <a:spLocks noGrp="1" noRot="1" noChangeAspect="1" noChangeArrowheads="1"/>
          </p:cNvSpPr>
          <p:nvPr>
            <p:ph type="sldImg"/>
          </p:nvPr>
        </p:nvSpPr>
        <p:spPr>
          <a:xfrm>
            <a:off x="1143000" y="685800"/>
            <a:ext cx="4572000" cy="3429000"/>
          </a:xfrm>
          <a:solidFill>
            <a:srgbClr val="FFFFFF"/>
          </a:solidFill>
          <a:ln/>
        </p:spPr>
      </p:sp>
      <p:sp>
        <p:nvSpPr>
          <p:cNvPr id="29700" name="Rectangle 1027"/>
          <p:cNvSpPr>
            <a:spLocks noGrp="1" noChangeArrowheads="1"/>
          </p:cNvSpPr>
          <p:nvPr>
            <p:ph type="body" idx="1"/>
          </p:nvPr>
        </p:nvSpPr>
        <p:spPr>
          <a:noFill/>
          <a:ln/>
        </p:spPr>
        <p:txBody>
          <a:bodyPr/>
          <a:lstStyle/>
          <a:p>
            <a:pPr eaLnBrk="1" hangingPunct="1"/>
            <a:r>
              <a:rPr lang="en-US" dirty="0" smtClean="0">
                <a:latin typeface="Arial" pitchFamily="-84" charset="0"/>
                <a:ea typeface="ＭＳ Ｐゴシック" pitchFamily="-84" charset="-128"/>
                <a:cs typeface="ＭＳ Ｐゴシック" pitchFamily="-84" charset="-128"/>
              </a:rPr>
              <a:t>Now consider a simple protocol that makes use of the Diffie-Hellman calculation. Suppose that user A wishes to set up a connection with user B and use a secret key to encrypt messages on that connection. User A can generate a one-time private key </a:t>
            </a:r>
            <a:r>
              <a:rPr lang="en-US" i="1" dirty="0" smtClean="0">
                <a:latin typeface="Arial" pitchFamily="-84" charset="0"/>
                <a:ea typeface="ＭＳ Ｐゴシック" pitchFamily="-84" charset="-128"/>
                <a:cs typeface="ＭＳ Ｐゴシック" pitchFamily="-84" charset="-128"/>
              </a:rPr>
              <a:t>X</a:t>
            </a:r>
            <a:r>
              <a:rPr lang="en-US" i="1" baseline="-25000" dirty="0" smtClean="0">
                <a:latin typeface="Arial" pitchFamily="-84" charset="0"/>
                <a:ea typeface="ＭＳ Ｐゴシック" pitchFamily="-84" charset="-128"/>
                <a:cs typeface="ＭＳ Ｐゴシック" pitchFamily="-84" charset="-128"/>
              </a:rPr>
              <a:t>A</a:t>
            </a:r>
            <a:r>
              <a:rPr lang="en-US" i="1" dirty="0" smtClean="0">
                <a:latin typeface="Arial" pitchFamily="-84" charset="0"/>
                <a:ea typeface="ＭＳ Ｐゴシック" pitchFamily="-84" charset="-128"/>
                <a:cs typeface="ＭＳ Ｐゴシック" pitchFamily="-84" charset="-128"/>
              </a:rPr>
              <a:t>, </a:t>
            </a:r>
            <a:r>
              <a:rPr lang="en-US" dirty="0" smtClean="0">
                <a:latin typeface="Arial" pitchFamily="-84" charset="0"/>
                <a:ea typeface="ＭＳ Ｐゴシック" pitchFamily="-84" charset="-128"/>
                <a:cs typeface="ＭＳ Ｐゴシック" pitchFamily="-84" charset="-128"/>
              </a:rPr>
              <a:t>calculate </a:t>
            </a:r>
            <a:r>
              <a:rPr lang="en-US" i="1" dirty="0" smtClean="0">
                <a:latin typeface="Arial" pitchFamily="-84" charset="0"/>
                <a:ea typeface="ＭＳ Ｐゴシック" pitchFamily="-84" charset="-128"/>
                <a:cs typeface="ＭＳ Ｐゴシック" pitchFamily="-84" charset="-128"/>
              </a:rPr>
              <a:t>Y</a:t>
            </a:r>
            <a:r>
              <a:rPr lang="en-US" i="1" baseline="-25000" dirty="0" smtClean="0">
                <a:latin typeface="Arial" pitchFamily="-84" charset="0"/>
                <a:ea typeface="ＭＳ Ｐゴシック" pitchFamily="-84" charset="-128"/>
                <a:cs typeface="ＭＳ Ｐゴシック" pitchFamily="-84" charset="-128"/>
              </a:rPr>
              <a:t>A</a:t>
            </a:r>
            <a:r>
              <a:rPr lang="en-US" i="1" dirty="0" smtClean="0">
                <a:latin typeface="Arial" pitchFamily="-84" charset="0"/>
                <a:ea typeface="ＭＳ Ｐゴシック" pitchFamily="-84" charset="-128"/>
                <a:cs typeface="ＭＳ Ｐゴシック" pitchFamily="-84" charset="-128"/>
              </a:rPr>
              <a:t>, </a:t>
            </a:r>
            <a:r>
              <a:rPr lang="en-US" dirty="0" smtClean="0">
                <a:latin typeface="Arial" pitchFamily="-84" charset="0"/>
                <a:ea typeface="ＭＳ Ｐゴシック" pitchFamily="-84" charset="-128"/>
                <a:cs typeface="ＭＳ Ｐゴシック" pitchFamily="-84" charset="-128"/>
              </a:rPr>
              <a:t>and send that to user </a:t>
            </a:r>
            <a:r>
              <a:rPr lang="en-US" i="1" dirty="0" smtClean="0">
                <a:latin typeface="Arial" pitchFamily="-84" charset="0"/>
                <a:ea typeface="ＭＳ Ｐゴシック" pitchFamily="-84" charset="-128"/>
                <a:cs typeface="ＭＳ Ｐゴシック" pitchFamily="-84" charset="-128"/>
              </a:rPr>
              <a:t>B. </a:t>
            </a:r>
            <a:r>
              <a:rPr lang="en-US" dirty="0" smtClean="0">
                <a:latin typeface="Arial" pitchFamily="-84" charset="0"/>
                <a:ea typeface="ＭＳ Ｐゴシック" pitchFamily="-84" charset="-128"/>
                <a:cs typeface="ＭＳ Ｐゴシック" pitchFamily="-84" charset="-128"/>
              </a:rPr>
              <a:t>User </a:t>
            </a:r>
            <a:r>
              <a:rPr lang="en-US" i="1" dirty="0" smtClean="0">
                <a:latin typeface="Arial" pitchFamily="-84" charset="0"/>
                <a:ea typeface="ＭＳ Ｐゴシック" pitchFamily="-84" charset="-128"/>
                <a:cs typeface="ＭＳ Ｐゴシック" pitchFamily="-84" charset="-128"/>
              </a:rPr>
              <a:t>B </a:t>
            </a:r>
            <a:r>
              <a:rPr lang="en-US" dirty="0" smtClean="0">
                <a:latin typeface="Arial" pitchFamily="-84" charset="0"/>
                <a:ea typeface="ＭＳ Ｐゴシック" pitchFamily="-84" charset="-128"/>
                <a:cs typeface="ＭＳ Ｐゴシック" pitchFamily="-84" charset="-128"/>
              </a:rPr>
              <a:t>responds by generating a private value </a:t>
            </a:r>
            <a:r>
              <a:rPr lang="en-US" i="1" dirty="0" smtClean="0">
                <a:latin typeface="Arial" pitchFamily="-84" charset="0"/>
                <a:ea typeface="ＭＳ Ｐゴシック" pitchFamily="-84" charset="-128"/>
                <a:cs typeface="ＭＳ Ｐゴシック" pitchFamily="-84" charset="-128"/>
              </a:rPr>
              <a:t>X</a:t>
            </a:r>
            <a:r>
              <a:rPr lang="en-US" i="1" baseline="-25000" dirty="0" smtClean="0">
                <a:latin typeface="Arial" pitchFamily="-84" charset="0"/>
                <a:ea typeface="ＭＳ Ｐゴシック" pitchFamily="-84" charset="-128"/>
                <a:cs typeface="ＭＳ Ｐゴシック" pitchFamily="-84" charset="-128"/>
              </a:rPr>
              <a:t>B</a:t>
            </a:r>
            <a:r>
              <a:rPr lang="en-US" i="1" dirty="0" smtClean="0">
                <a:latin typeface="Arial" pitchFamily="-84" charset="0"/>
                <a:ea typeface="ＭＳ Ｐゴシック" pitchFamily="-84" charset="-128"/>
                <a:cs typeface="ＭＳ Ｐゴシック" pitchFamily="-84" charset="-128"/>
              </a:rPr>
              <a:t>, </a:t>
            </a:r>
            <a:r>
              <a:rPr lang="en-US" dirty="0" smtClean="0">
                <a:latin typeface="Arial" pitchFamily="-84" charset="0"/>
                <a:ea typeface="ＭＳ Ｐゴシック" pitchFamily="-84" charset="-128"/>
                <a:cs typeface="ＭＳ Ｐゴシック" pitchFamily="-84" charset="-128"/>
              </a:rPr>
              <a:t>calculating </a:t>
            </a:r>
            <a:r>
              <a:rPr lang="en-US" i="1" dirty="0" smtClean="0">
                <a:latin typeface="Arial" pitchFamily="-84" charset="0"/>
                <a:ea typeface="ＭＳ Ｐゴシック" pitchFamily="-84" charset="-128"/>
                <a:cs typeface="ＭＳ Ｐゴシック" pitchFamily="-84" charset="-128"/>
              </a:rPr>
              <a:t>Y</a:t>
            </a:r>
            <a:r>
              <a:rPr lang="en-US" i="1" baseline="-25000" dirty="0" smtClean="0">
                <a:latin typeface="Arial" pitchFamily="-84" charset="0"/>
                <a:ea typeface="ＭＳ Ｐゴシック" pitchFamily="-84" charset="-128"/>
                <a:cs typeface="ＭＳ Ｐゴシック" pitchFamily="-84" charset="-128"/>
              </a:rPr>
              <a:t>B</a:t>
            </a:r>
            <a:r>
              <a:rPr lang="en-US" i="1" dirty="0" smtClean="0">
                <a:latin typeface="Arial" pitchFamily="-84" charset="0"/>
                <a:ea typeface="ＭＳ Ｐゴシック" pitchFamily="-84" charset="-128"/>
                <a:cs typeface="ＭＳ Ｐゴシック" pitchFamily="-84" charset="-128"/>
              </a:rPr>
              <a:t>, </a:t>
            </a:r>
            <a:r>
              <a:rPr lang="en-US" dirty="0" smtClean="0">
                <a:latin typeface="Arial" pitchFamily="-84" charset="0"/>
                <a:ea typeface="ＭＳ Ｐゴシック" pitchFamily="-84" charset="-128"/>
                <a:cs typeface="ＭＳ Ｐゴシック" pitchFamily="-84" charset="-128"/>
              </a:rPr>
              <a:t>and sending </a:t>
            </a:r>
            <a:r>
              <a:rPr lang="en-US" i="1" dirty="0" smtClean="0">
                <a:latin typeface="Arial" pitchFamily="-84" charset="0"/>
                <a:ea typeface="ＭＳ Ｐゴシック" pitchFamily="-84" charset="-128"/>
                <a:cs typeface="ＭＳ Ｐゴシック" pitchFamily="-84" charset="-128"/>
              </a:rPr>
              <a:t>Y</a:t>
            </a:r>
            <a:r>
              <a:rPr lang="en-US" i="1" baseline="-25000" dirty="0" smtClean="0">
                <a:latin typeface="Arial" pitchFamily="-84" charset="0"/>
                <a:ea typeface="ＭＳ Ｐゴシック" pitchFamily="-84" charset="-128"/>
                <a:cs typeface="ＭＳ Ｐゴシック" pitchFamily="-84" charset="-128"/>
              </a:rPr>
              <a:t>B</a:t>
            </a:r>
            <a:r>
              <a:rPr lang="en-US" i="1" dirty="0" smtClean="0">
                <a:latin typeface="Arial" pitchFamily="-84" charset="0"/>
                <a:ea typeface="ＭＳ Ｐゴシック" pitchFamily="-84" charset="-128"/>
                <a:cs typeface="ＭＳ Ｐゴシック" pitchFamily="-84" charset="-128"/>
              </a:rPr>
              <a:t> </a:t>
            </a:r>
            <a:r>
              <a:rPr lang="en-US" dirty="0" smtClean="0">
                <a:latin typeface="Arial" pitchFamily="-84" charset="0"/>
                <a:ea typeface="ＭＳ Ｐゴシック" pitchFamily="-84" charset="-128"/>
                <a:cs typeface="ＭＳ Ｐゴシック" pitchFamily="-84" charset="-128"/>
              </a:rPr>
              <a:t>to user </a:t>
            </a:r>
            <a:r>
              <a:rPr lang="en-US" i="1" dirty="0" smtClean="0">
                <a:latin typeface="Arial" pitchFamily="-84" charset="0"/>
                <a:ea typeface="ＭＳ Ｐゴシック" pitchFamily="-84" charset="-128"/>
                <a:cs typeface="ＭＳ Ｐゴシック" pitchFamily="-84" charset="-128"/>
              </a:rPr>
              <a:t>A. </a:t>
            </a:r>
            <a:r>
              <a:rPr lang="en-US" dirty="0" smtClean="0">
                <a:latin typeface="Arial" pitchFamily="-84" charset="0"/>
                <a:ea typeface="ＭＳ Ｐゴシック" pitchFamily="-84" charset="-128"/>
                <a:cs typeface="ＭＳ Ｐゴシック" pitchFamily="-84" charset="-128"/>
              </a:rPr>
              <a:t>Both users can now calculate the key. The necessary public values </a:t>
            </a:r>
            <a:r>
              <a:rPr lang="en-US" i="1" dirty="0" smtClean="0">
                <a:latin typeface="Arial" pitchFamily="-84" charset="0"/>
                <a:ea typeface="ＭＳ Ｐゴシック" pitchFamily="-84" charset="-128"/>
                <a:cs typeface="ＭＳ Ｐゴシック" pitchFamily="-84" charset="-128"/>
              </a:rPr>
              <a:t>q </a:t>
            </a:r>
            <a:r>
              <a:rPr lang="en-US" dirty="0" smtClean="0">
                <a:latin typeface="Arial" pitchFamily="-84" charset="0"/>
                <a:ea typeface="ＭＳ Ｐゴシック" pitchFamily="-84" charset="-128"/>
                <a:cs typeface="ＭＳ Ｐゴシック" pitchFamily="-84" charset="-128"/>
              </a:rPr>
              <a:t>and </a:t>
            </a:r>
            <a:r>
              <a:rPr lang="en-US" i="1" dirty="0" smtClean="0">
                <a:latin typeface="Arial" pitchFamily="-84" charset="0"/>
                <a:ea typeface="ＭＳ Ｐゴシック" pitchFamily="-84" charset="-128"/>
                <a:cs typeface="ＭＳ Ｐゴシック" pitchFamily="-84" charset="-128"/>
              </a:rPr>
              <a:t>a </a:t>
            </a:r>
            <a:r>
              <a:rPr lang="en-US" dirty="0" smtClean="0">
                <a:latin typeface="Arial" pitchFamily="-84" charset="0"/>
                <a:ea typeface="ＭＳ Ｐゴシック" pitchFamily="-84" charset="-128"/>
                <a:cs typeface="ＭＳ Ｐゴシック" pitchFamily="-84" charset="-128"/>
              </a:rPr>
              <a:t>would need to be known ahead of time. Alternatively, user </a:t>
            </a:r>
            <a:r>
              <a:rPr lang="en-US" i="1" dirty="0" smtClean="0">
                <a:latin typeface="Arial" pitchFamily="-84" charset="0"/>
                <a:ea typeface="ＭＳ Ｐゴシック" pitchFamily="-84" charset="-128"/>
                <a:cs typeface="ＭＳ Ｐゴシック" pitchFamily="-84" charset="-128"/>
              </a:rPr>
              <a:t>A </a:t>
            </a:r>
            <a:r>
              <a:rPr lang="en-US" dirty="0" smtClean="0">
                <a:latin typeface="Arial" pitchFamily="-84" charset="0"/>
                <a:ea typeface="ＭＳ Ｐゴシック" pitchFamily="-84" charset="-128"/>
                <a:cs typeface="ＭＳ Ｐゴシック" pitchFamily="-84" charset="-128"/>
              </a:rPr>
              <a:t>could pick values for </a:t>
            </a:r>
            <a:r>
              <a:rPr lang="en-US" i="1" dirty="0" smtClean="0">
                <a:latin typeface="Arial" pitchFamily="-84" charset="0"/>
                <a:ea typeface="ＭＳ Ｐゴシック" pitchFamily="-84" charset="-128"/>
                <a:cs typeface="ＭＳ Ｐゴシック" pitchFamily="-84" charset="-128"/>
              </a:rPr>
              <a:t>q </a:t>
            </a:r>
            <a:r>
              <a:rPr lang="en-US" dirty="0" smtClean="0">
                <a:latin typeface="Arial" pitchFamily="-84" charset="0"/>
                <a:ea typeface="ＭＳ Ｐゴシック" pitchFamily="-84" charset="-128"/>
                <a:cs typeface="ＭＳ Ｐゴシック" pitchFamily="-84" charset="-128"/>
              </a:rPr>
              <a:t>and </a:t>
            </a:r>
            <a:r>
              <a:rPr lang="en-US" i="1" dirty="0" smtClean="0">
                <a:latin typeface="Arial" pitchFamily="-84" charset="0"/>
                <a:ea typeface="ＭＳ Ｐゴシック" pitchFamily="-84" charset="-128"/>
                <a:cs typeface="ＭＳ Ｐゴシック" pitchFamily="-84" charset="-128"/>
              </a:rPr>
              <a:t>a </a:t>
            </a:r>
            <a:r>
              <a:rPr lang="en-US" dirty="0" smtClean="0">
                <a:latin typeface="Arial" pitchFamily="-84" charset="0"/>
                <a:ea typeface="ＭＳ Ｐゴシック" pitchFamily="-84" charset="-128"/>
                <a:cs typeface="ＭＳ Ｐゴシック" pitchFamily="-84" charset="-128"/>
              </a:rPr>
              <a:t>and include those in the first message. </a:t>
            </a:r>
          </a:p>
        </p:txBody>
      </p:sp>
    </p:spTree>
    <p:extLst>
      <p:ext uri="{BB962C8B-B14F-4D97-AF65-F5344CB8AC3E}">
        <p14:creationId xmlns:p14="http://schemas.microsoft.com/office/powerpoint/2010/main" val="28937130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pPr eaLnBrk="1" hangingPunct="1">
              <a:lnSpc>
                <a:spcPct val="90000"/>
              </a:lnSpc>
              <a:buFontTx/>
              <a:buNone/>
            </a:pPr>
            <a:r>
              <a:rPr lang="en-US" sz="1100" dirty="0" smtClean="0">
                <a:latin typeface="Arial" pitchFamily="-84" charset="0"/>
                <a:ea typeface="ＭＳ Ｐゴシック" pitchFamily="-84" charset="-128"/>
                <a:cs typeface="ＭＳ Ｐゴシック" pitchFamily="-84" charset="-128"/>
              </a:rPr>
              <a:t>In this</a:t>
            </a:r>
            <a:r>
              <a:rPr lang="en-US" sz="1100" baseline="0" dirty="0" smtClean="0">
                <a:latin typeface="Arial" pitchFamily="-84" charset="0"/>
                <a:ea typeface="ＭＳ Ｐゴシック" pitchFamily="-84" charset="-128"/>
                <a:cs typeface="ＭＳ Ｐゴシック" pitchFamily="-84" charset="-128"/>
              </a:rPr>
              <a:t> diagram, Alice and Bob want to agree on a key. They first share their public keys. This is where the evil Man-in-the-Middle, EVE, comes into the picture. She intercepts Alice’s public key and sends Bob her own public key instead. She also intercepts Bob’s public key and sends Alice her own public key.</a:t>
            </a:r>
          </a:p>
          <a:p>
            <a:pPr eaLnBrk="1" hangingPunct="1">
              <a:lnSpc>
                <a:spcPct val="90000"/>
              </a:lnSpc>
              <a:buFontTx/>
              <a:buNone/>
            </a:pPr>
            <a:endParaRPr lang="en-US" sz="1100" baseline="0" dirty="0" smtClean="0">
              <a:latin typeface="Arial" pitchFamily="-84" charset="0"/>
              <a:ea typeface="ＭＳ Ｐゴシック" pitchFamily="-84" charset="-128"/>
              <a:cs typeface="ＭＳ Ｐゴシック" pitchFamily="-84" charset="-128"/>
            </a:endParaRPr>
          </a:p>
          <a:p>
            <a:pPr eaLnBrk="1" hangingPunct="1">
              <a:lnSpc>
                <a:spcPct val="90000"/>
              </a:lnSpc>
              <a:buFontTx/>
              <a:buNone/>
            </a:pPr>
            <a:r>
              <a:rPr lang="en-US" sz="1100" baseline="0" dirty="0" smtClean="0">
                <a:latin typeface="Arial" pitchFamily="-84" charset="0"/>
                <a:ea typeface="ＭＳ Ｐゴシック" pitchFamily="-84" charset="-128"/>
                <a:cs typeface="ＭＳ Ｐゴシック" pitchFamily="-84" charset="-128"/>
              </a:rPr>
              <a:t>Now Alice and Bob both calculate keys using the public keys they receive and their own private keys. They think they are calculating the same key as one another but indeed what they calculate can only be calculated by Eve. Eve calculates the two keys, one with Alice’s public key and one with Bob’s public key, and communicates with Bob as if she is Alice and communicates with Alice as if she is Bob. Alice and Bob have no idea that their messages are read by and possibly modified by Eve.</a:t>
            </a:r>
          </a:p>
          <a:p>
            <a:pPr eaLnBrk="1" hangingPunct="1">
              <a:lnSpc>
                <a:spcPct val="90000"/>
              </a:lnSpc>
              <a:buFontTx/>
              <a:buNone/>
            </a:pPr>
            <a:endParaRPr lang="en-US" sz="1100" dirty="0" smtClean="0">
              <a:latin typeface="Arial" pitchFamily="-84" charset="0"/>
              <a:ea typeface="ＭＳ Ｐゴシック" pitchFamily="-84" charset="-128"/>
              <a:cs typeface="ＭＳ Ｐゴシック" pitchFamily="-84" charset="-128"/>
            </a:endParaRPr>
          </a:p>
          <a:p>
            <a:pPr eaLnBrk="1" hangingPunct="1">
              <a:lnSpc>
                <a:spcPct val="90000"/>
              </a:lnSpc>
              <a:buFontTx/>
              <a:buNone/>
            </a:pPr>
            <a:r>
              <a:rPr lang="en-US" sz="1100" dirty="0" smtClean="0">
                <a:latin typeface="Arial" pitchFamily="-84" charset="0"/>
                <a:ea typeface="ＭＳ Ｐゴシック" pitchFamily="-84" charset="-128"/>
                <a:cs typeface="ＭＳ Ｐゴシック" pitchFamily="-84" charset="-128"/>
              </a:rPr>
              <a:t>The key exchange protocol is vulnerable to such an attack because it does not authenticate the participants. This vulnerability can be overcome with the use of digital signatures and public key certificates.</a:t>
            </a:r>
          </a:p>
        </p:txBody>
      </p:sp>
    </p:spTree>
    <p:extLst>
      <p:ext uri="{BB962C8B-B14F-4D97-AF65-F5344CB8AC3E}">
        <p14:creationId xmlns:p14="http://schemas.microsoft.com/office/powerpoint/2010/main" val="34666368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6045648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grpSp>
        <p:nvGrpSpPr>
          <p:cNvPr id="10" name="Group 9"/>
          <p:cNvGrpSpPr/>
          <p:nvPr/>
        </p:nvGrpSpPr>
        <p:grpSpPr>
          <a:xfrm>
            <a:off x="2249552" y="3401981"/>
            <a:ext cx="5372100" cy="2059641"/>
            <a:chOff x="914400" y="3657600"/>
            <a:chExt cx="7162800" cy="2059641"/>
          </a:xfrm>
        </p:grpSpPr>
        <p:sp>
          <p:nvSpPr>
            <p:cNvPr id="11" name="Rectangle 10"/>
            <p:cNvSpPr/>
            <p:nvPr/>
          </p:nvSpPr>
          <p:spPr>
            <a:xfrm>
              <a:off x="914400" y="3657600"/>
              <a:ext cx="7162800" cy="1295400"/>
            </a:xfrm>
            <a:prstGeom prst="rect">
              <a:avLst/>
            </a:prstGeom>
            <a:noFill/>
            <a:ln w="12700">
              <a:solidFill>
                <a:srgbClr val="2955A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Rectangle 11"/>
            <p:cNvSpPr/>
            <p:nvPr/>
          </p:nvSpPr>
          <p:spPr>
            <a:xfrm>
              <a:off x="914400" y="5069541"/>
              <a:ext cx="7162800" cy="647700"/>
            </a:xfrm>
            <a:prstGeom prst="rect">
              <a:avLst/>
            </a:prstGeom>
            <a:noFill/>
            <a:ln w="12700">
              <a:solidFill>
                <a:srgbClr val="2955A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Rectangle 12"/>
            <p:cNvSpPr/>
            <p:nvPr/>
          </p:nvSpPr>
          <p:spPr>
            <a:xfrm>
              <a:off x="914400" y="3657600"/>
              <a:ext cx="228600" cy="1295400"/>
            </a:xfrm>
            <a:prstGeom prst="rect">
              <a:avLst/>
            </a:prstGeom>
            <a:solidFill>
              <a:srgbClr val="2955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Rectangle 13"/>
            <p:cNvSpPr/>
            <p:nvPr/>
          </p:nvSpPr>
          <p:spPr>
            <a:xfrm>
              <a:off x="914400" y="5069541"/>
              <a:ext cx="228600" cy="647700"/>
            </a:xfrm>
            <a:prstGeom prst="rect">
              <a:avLst/>
            </a:prstGeom>
            <a:solidFill>
              <a:srgbClr val="2955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sp>
        <p:nvSpPr>
          <p:cNvPr id="15" name="Title 1"/>
          <p:cNvSpPr>
            <a:spLocks noGrp="1"/>
          </p:cNvSpPr>
          <p:nvPr>
            <p:ph type="ctrTitle" hasCustomPrompt="1"/>
          </p:nvPr>
        </p:nvSpPr>
        <p:spPr>
          <a:xfrm>
            <a:off x="2629775" y="3616586"/>
            <a:ext cx="4611655" cy="803564"/>
          </a:xfrm>
          <a:prstGeom prst="rect">
            <a:avLst/>
          </a:prstGeom>
        </p:spPr>
        <p:txBody>
          <a:bodyPr anchor="b">
            <a:noAutofit/>
          </a:bodyPr>
          <a:lstStyle>
            <a:lvl1pPr algn="l">
              <a:defRPr lang="en-US" sz="3000" b="1" kern="1200" baseline="0" dirty="0" smtClean="0">
                <a:solidFill>
                  <a:srgbClr val="2955A6"/>
                </a:solidFill>
                <a:latin typeface="+mj-lt"/>
                <a:ea typeface="+mj-ea"/>
                <a:cs typeface="+mj-cs"/>
              </a:defRPr>
            </a:lvl1pPr>
          </a:lstStyle>
          <a:p>
            <a:r>
              <a:rPr lang="en-US" dirty="0" smtClean="0"/>
              <a:t>Module Name</a:t>
            </a:r>
            <a:endParaRPr lang="en-US" dirty="0"/>
          </a:p>
        </p:txBody>
      </p:sp>
      <p:sp>
        <p:nvSpPr>
          <p:cNvPr id="20" name="Text Placeholder 19"/>
          <p:cNvSpPr>
            <a:spLocks noGrp="1"/>
          </p:cNvSpPr>
          <p:nvPr>
            <p:ph type="body" sz="quarter" idx="13"/>
          </p:nvPr>
        </p:nvSpPr>
        <p:spPr>
          <a:xfrm>
            <a:off x="2629775" y="4998325"/>
            <a:ext cx="4220429" cy="278892"/>
          </a:xfrm>
          <a:prstGeom prst="rect">
            <a:avLst/>
          </a:prstGeom>
        </p:spPr>
        <p:txBody>
          <a:bodyPr anchor="ctr"/>
          <a:lstStyle>
            <a:lvl1pPr marL="0" indent="0">
              <a:buNone/>
              <a:defRPr/>
            </a:lvl1pPr>
            <a:lvl3pPr marL="685800" indent="0">
              <a:buNone/>
              <a:defRPr/>
            </a:lvl3pPr>
            <a:lvl5pPr marL="1371600" indent="0" algn="l">
              <a:buNone/>
              <a:defRPr/>
            </a:lvl5pPr>
          </a:lstStyle>
          <a:p>
            <a:pPr lvl="0"/>
            <a:r>
              <a:rPr lang="en-US" smtClean="0"/>
              <a:t>Edit Master text styles</a:t>
            </a:r>
          </a:p>
        </p:txBody>
      </p:sp>
      <p:pic>
        <p:nvPicPr>
          <p:cNvPr id="2" name="Picture 1"/>
          <p:cNvPicPr>
            <a:picLocks noChangeAspect="1"/>
          </p:cNvPicPr>
          <p:nvPr/>
        </p:nvPicPr>
        <p:blipFill>
          <a:blip r:embed="rId2"/>
          <a:stretch>
            <a:fillRect/>
          </a:stretch>
        </p:blipFill>
        <p:spPr>
          <a:xfrm>
            <a:off x="417271" y="283768"/>
            <a:ext cx="1883002" cy="1870957"/>
          </a:xfrm>
          <a:prstGeom prst="rect">
            <a:avLst/>
          </a:prstGeom>
        </p:spPr>
      </p:pic>
      <p:pic>
        <p:nvPicPr>
          <p:cNvPr id="3" name="Picture 2"/>
          <p:cNvPicPr>
            <a:picLocks noChangeAspect="1"/>
          </p:cNvPicPr>
          <p:nvPr/>
        </p:nvPicPr>
        <p:blipFill>
          <a:blip r:embed="rId3"/>
          <a:stretch>
            <a:fillRect/>
          </a:stretch>
        </p:blipFill>
        <p:spPr>
          <a:xfrm>
            <a:off x="7414634" y="283768"/>
            <a:ext cx="1210054" cy="1210054"/>
          </a:xfrm>
          <a:prstGeom prst="rect">
            <a:avLst/>
          </a:prstGeom>
        </p:spPr>
      </p:pic>
    </p:spTree>
    <p:extLst>
      <p:ext uri="{BB962C8B-B14F-4D97-AF65-F5344CB8AC3E}">
        <p14:creationId xmlns:p14="http://schemas.microsoft.com/office/powerpoint/2010/main" val="35246799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8650" y="365126"/>
            <a:ext cx="7886700" cy="1325563"/>
          </a:xfrm>
          <a:prstGeom prst="rect">
            <a:avLst/>
          </a:prstGeom>
        </p:spPr>
        <p:txBody>
          <a:bodyPr/>
          <a:lstStyle>
            <a:lvl1pPr>
              <a:defRPr/>
            </a:lvl1pPr>
          </a:lstStyle>
          <a:p>
            <a:r>
              <a:rPr lang="en-US" dirty="0" smtClean="0"/>
              <a:t>Slide Title</a:t>
            </a:r>
            <a:endParaRPr lang="en-US" dirty="0"/>
          </a:p>
        </p:txBody>
      </p:sp>
      <p:sp>
        <p:nvSpPr>
          <p:cNvPr id="3" name="Content Placeholder 2"/>
          <p:cNvSpPr>
            <a:spLocks noGrp="1"/>
          </p:cNvSpPr>
          <p:nvPr>
            <p:ph idx="1"/>
          </p:nvPr>
        </p:nvSpPr>
        <p:spPr>
          <a:xfrm>
            <a:off x="628650" y="1825625"/>
            <a:ext cx="7886700" cy="4351338"/>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Slide Number Placeholder 5"/>
          <p:cNvSpPr>
            <a:spLocks noGrp="1"/>
          </p:cNvSpPr>
          <p:nvPr>
            <p:ph type="sldNum" sz="quarter" idx="12"/>
          </p:nvPr>
        </p:nvSpPr>
        <p:spPr/>
        <p:txBody>
          <a:bodyPr/>
          <a:lstStyle/>
          <a:p>
            <a:fld id="{8026FE3C-7E70-4420-AA12-392E0D4EE99D}" type="slidenum">
              <a:rPr lang="en-US" smtClean="0"/>
              <a:t>‹#›</a:t>
            </a:fld>
            <a:endParaRPr lang="en-US"/>
          </a:p>
        </p:txBody>
      </p:sp>
    </p:spTree>
    <p:extLst>
      <p:ext uri="{BB962C8B-B14F-4D97-AF65-F5344CB8AC3E}">
        <p14:creationId xmlns:p14="http://schemas.microsoft.com/office/powerpoint/2010/main" val="19464482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a:prstGeom prst="rect">
            <a:avLst/>
          </a:prstGeo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4589464"/>
            <a:ext cx="7886700" cy="1500187"/>
          </a:xfrm>
          <a:prstGeom prst="rect">
            <a:avLst/>
          </a:prstGeo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Edit Master text styles</a:t>
            </a:r>
          </a:p>
        </p:txBody>
      </p:sp>
      <p:sp>
        <p:nvSpPr>
          <p:cNvPr id="6" name="Slide Number Placeholder 5"/>
          <p:cNvSpPr>
            <a:spLocks noGrp="1"/>
          </p:cNvSpPr>
          <p:nvPr>
            <p:ph type="sldNum" sz="quarter" idx="12"/>
          </p:nvPr>
        </p:nvSpPr>
        <p:spPr/>
        <p:txBody>
          <a:bodyPr/>
          <a:lstStyle/>
          <a:p>
            <a:fld id="{8026FE3C-7E70-4420-AA12-392E0D4EE99D}" type="slidenum">
              <a:rPr lang="en-US" smtClean="0"/>
              <a:t>‹#›</a:t>
            </a:fld>
            <a:endParaRPr lang="en-US"/>
          </a:p>
        </p:txBody>
      </p:sp>
    </p:spTree>
    <p:extLst>
      <p:ext uri="{BB962C8B-B14F-4D97-AF65-F5344CB8AC3E}">
        <p14:creationId xmlns:p14="http://schemas.microsoft.com/office/powerpoint/2010/main" val="22176902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825625"/>
            <a:ext cx="3886200" cy="4351338"/>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9150" y="1825625"/>
            <a:ext cx="3886200" cy="4351338"/>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Slide Number Placeholder 6"/>
          <p:cNvSpPr>
            <a:spLocks noGrp="1"/>
          </p:cNvSpPr>
          <p:nvPr>
            <p:ph type="sldNum" sz="quarter" idx="12"/>
          </p:nvPr>
        </p:nvSpPr>
        <p:spPr/>
        <p:txBody>
          <a:bodyPr/>
          <a:lstStyle/>
          <a:p>
            <a:fld id="{8026FE3C-7E70-4420-AA12-392E0D4EE99D}" type="slidenum">
              <a:rPr lang="en-US" smtClean="0"/>
              <a:t>‹#›</a:t>
            </a:fld>
            <a:endParaRPr lang="en-US"/>
          </a:p>
        </p:txBody>
      </p:sp>
    </p:spTree>
    <p:extLst>
      <p:ext uri="{BB962C8B-B14F-4D97-AF65-F5344CB8AC3E}">
        <p14:creationId xmlns:p14="http://schemas.microsoft.com/office/powerpoint/2010/main" val="902621968"/>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a:prstGeom prst="rect">
            <a:avLst/>
          </a:prstGeo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2" y="1681163"/>
            <a:ext cx="3868340"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4" name="Content Placeholder 3"/>
          <p:cNvSpPr>
            <a:spLocks noGrp="1"/>
          </p:cNvSpPr>
          <p:nvPr>
            <p:ph sz="half" idx="2"/>
          </p:nvPr>
        </p:nvSpPr>
        <p:spPr>
          <a:xfrm>
            <a:off x="629842" y="2505075"/>
            <a:ext cx="3868340" cy="3684588"/>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391"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6" name="Content Placeholder 5"/>
          <p:cNvSpPr>
            <a:spLocks noGrp="1"/>
          </p:cNvSpPr>
          <p:nvPr>
            <p:ph sz="quarter" idx="4"/>
          </p:nvPr>
        </p:nvSpPr>
        <p:spPr>
          <a:xfrm>
            <a:off x="4629150" y="2505075"/>
            <a:ext cx="3887391" cy="3684588"/>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Slide Number Placeholder 8"/>
          <p:cNvSpPr>
            <a:spLocks noGrp="1"/>
          </p:cNvSpPr>
          <p:nvPr>
            <p:ph type="sldNum" sz="quarter" idx="12"/>
          </p:nvPr>
        </p:nvSpPr>
        <p:spPr/>
        <p:txBody>
          <a:bodyPr/>
          <a:lstStyle/>
          <a:p>
            <a:fld id="{8026FE3C-7E70-4420-AA12-392E0D4EE99D}" type="slidenum">
              <a:rPr lang="en-US" smtClean="0"/>
              <a:t>‹#›</a:t>
            </a:fld>
            <a:endParaRPr lang="en-US"/>
          </a:p>
        </p:txBody>
      </p:sp>
    </p:spTree>
    <p:extLst>
      <p:ext uri="{BB962C8B-B14F-4D97-AF65-F5344CB8AC3E}">
        <p14:creationId xmlns:p14="http://schemas.microsoft.com/office/powerpoint/2010/main" val="253821305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smtClean="0"/>
              <a:t>Click to edit Master title style</a:t>
            </a:r>
            <a:endParaRPr lang="en-US"/>
          </a:p>
        </p:txBody>
      </p:sp>
      <p:sp>
        <p:nvSpPr>
          <p:cNvPr id="5" name="Slide Number Placeholder 4"/>
          <p:cNvSpPr>
            <a:spLocks noGrp="1"/>
          </p:cNvSpPr>
          <p:nvPr>
            <p:ph type="sldNum" sz="quarter" idx="12"/>
          </p:nvPr>
        </p:nvSpPr>
        <p:spPr/>
        <p:txBody>
          <a:bodyPr/>
          <a:lstStyle/>
          <a:p>
            <a:fld id="{8026FE3C-7E70-4420-AA12-392E0D4EE99D}" type="slidenum">
              <a:rPr lang="en-US" smtClean="0"/>
              <a:t>‹#›</a:t>
            </a:fld>
            <a:endParaRPr lang="en-US"/>
          </a:p>
        </p:txBody>
      </p:sp>
    </p:spTree>
    <p:extLst>
      <p:ext uri="{BB962C8B-B14F-4D97-AF65-F5344CB8AC3E}">
        <p14:creationId xmlns:p14="http://schemas.microsoft.com/office/powerpoint/2010/main" val="416053176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987426"/>
            <a:ext cx="4629150" cy="487362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7" name="Slide Number Placeholder 6"/>
          <p:cNvSpPr>
            <a:spLocks noGrp="1"/>
          </p:cNvSpPr>
          <p:nvPr>
            <p:ph type="sldNum" sz="quarter" idx="12"/>
          </p:nvPr>
        </p:nvSpPr>
        <p:spPr/>
        <p:txBody>
          <a:bodyPr/>
          <a:lstStyle/>
          <a:p>
            <a:fld id="{8026FE3C-7E70-4420-AA12-392E0D4EE99D}" type="slidenum">
              <a:rPr lang="en-US" smtClean="0"/>
              <a:t>‹#›</a:t>
            </a:fld>
            <a:endParaRPr lang="en-US"/>
          </a:p>
        </p:txBody>
      </p:sp>
    </p:spTree>
    <p:extLst>
      <p:ext uri="{BB962C8B-B14F-4D97-AF65-F5344CB8AC3E}">
        <p14:creationId xmlns:p14="http://schemas.microsoft.com/office/powerpoint/2010/main" val="177544865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987426"/>
            <a:ext cx="4629150" cy="4873625"/>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smtClean="0"/>
              <a:t>Click icon to add picture</a:t>
            </a:r>
            <a:endParaRPr lang="en-US"/>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7" name="Slide Number Placeholder 6"/>
          <p:cNvSpPr>
            <a:spLocks noGrp="1"/>
          </p:cNvSpPr>
          <p:nvPr>
            <p:ph type="sldNum" sz="quarter" idx="12"/>
          </p:nvPr>
        </p:nvSpPr>
        <p:spPr/>
        <p:txBody>
          <a:bodyPr/>
          <a:lstStyle/>
          <a:p>
            <a:fld id="{8026FE3C-7E70-4420-AA12-392E0D4EE99D}" type="slidenum">
              <a:rPr lang="en-US" smtClean="0"/>
              <a:t>‹#›</a:t>
            </a:fld>
            <a:endParaRPr lang="en-US"/>
          </a:p>
        </p:txBody>
      </p:sp>
    </p:spTree>
    <p:extLst>
      <p:ext uri="{BB962C8B-B14F-4D97-AF65-F5344CB8AC3E}">
        <p14:creationId xmlns:p14="http://schemas.microsoft.com/office/powerpoint/2010/main" val="170507939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Last Slide">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792587" y="187779"/>
            <a:ext cx="5550681" cy="6670221"/>
          </a:xfrm>
          <a:prstGeom prst="rect">
            <a:avLst/>
          </a:prstGeom>
        </p:spPr>
      </p:pic>
    </p:spTree>
    <p:extLst>
      <p:ext uri="{BB962C8B-B14F-4D97-AF65-F5344CB8AC3E}">
        <p14:creationId xmlns:p14="http://schemas.microsoft.com/office/powerpoint/2010/main" val="4147169727"/>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Total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867641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Blank w bkgroun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9769441"/>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hyperlink" Target="http://www.c5colleges.org/" TargetMode="Externa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hyperlink" Target="https://creativecommons.org/licenses/by/4.0/"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Slide Number Placeholder 5" title="Page Number"/>
          <p:cNvSpPr>
            <a:spLocks noGrp="1"/>
          </p:cNvSpPr>
          <p:nvPr>
            <p:ph type="sldNum" sz="quarter" idx="4"/>
          </p:nvPr>
        </p:nvSpPr>
        <p:spPr>
          <a:xfrm>
            <a:off x="8019661" y="6329898"/>
            <a:ext cx="49568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026FE3C-7E70-4420-AA12-392E0D4EE99D}" type="slidenum">
              <a:rPr lang="en-US" smtClean="0"/>
              <a:t>‹#›</a:t>
            </a:fld>
            <a:endParaRPr lang="en-US" dirty="0"/>
          </a:p>
        </p:txBody>
      </p:sp>
      <p:sp>
        <p:nvSpPr>
          <p:cNvPr id="7" name="Title Placeholder 6"/>
          <p:cNvSpPr>
            <a:spLocks noGrp="1"/>
          </p:cNvSpPr>
          <p:nvPr>
            <p:ph type="title"/>
          </p:nvPr>
        </p:nvSpPr>
        <p:spPr>
          <a:xfrm>
            <a:off x="628650" y="457200"/>
            <a:ext cx="5685995" cy="1101133"/>
          </a:xfrm>
          <a:prstGeom prst="rect">
            <a:avLst/>
          </a:prstGeom>
        </p:spPr>
        <p:txBody>
          <a:bodyPr vert="horz" lIns="91440" tIns="45720" rIns="91440" bIns="45720" rtlCol="0" anchor="ctr">
            <a:normAutofit/>
          </a:bodyPr>
          <a:lstStyle/>
          <a:p>
            <a:r>
              <a:rPr lang="en-US" smtClean="0"/>
              <a:t>Click to edit Master title style</a:t>
            </a:r>
            <a:endParaRPr lang="en-US" dirty="0"/>
          </a:p>
        </p:txBody>
      </p:sp>
      <p:pic>
        <p:nvPicPr>
          <p:cNvPr id="12" name="Picture 11" title="Creative Commons Logo"/>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628650" y="6463019"/>
            <a:ext cx="720197" cy="295275"/>
          </a:xfrm>
          <a:prstGeom prst="rect">
            <a:avLst/>
          </a:prstGeom>
        </p:spPr>
      </p:pic>
      <p:sp>
        <p:nvSpPr>
          <p:cNvPr id="4" name="Text Placeholder 3"/>
          <p:cNvSpPr>
            <a:spLocks noGrp="1"/>
          </p:cNvSpPr>
          <p:nvPr>
            <p:ph type="body" idx="1"/>
          </p:nvPr>
        </p:nvSpPr>
        <p:spPr>
          <a:xfrm>
            <a:off x="628650" y="1825625"/>
            <a:ext cx="7886700" cy="4482632"/>
          </a:xfrm>
          <a:prstGeom prst="rect">
            <a:avLst/>
          </a:prstGeom>
        </p:spPr>
        <p:txBody>
          <a:bodyPr vert="horz" lIns="91440" tIns="45720" rIns="91440" bIns="45720" rtlCol="0">
            <a:normAutofit/>
          </a:bodyPr>
          <a:lstStyle/>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smtClean="0"/>
              <a:t>Click to edit M</a:t>
            </a:r>
          </a:p>
          <a:p>
            <a:pPr lvl="0"/>
            <a:r>
              <a:rPr lang="en-US" dirty="0" smtClean="0"/>
              <a:t>aster text styles</a:t>
            </a:r>
          </a:p>
          <a:p>
            <a:pPr lvl="1"/>
            <a:r>
              <a:rPr lang="en-US" dirty="0" smtClean="0"/>
              <a:t>Second </a:t>
            </a:r>
            <a:r>
              <a:rPr lang="en-US" dirty="0" err="1" smtClean="0"/>
              <a:t>levelThird</a:t>
            </a:r>
            <a:r>
              <a:rPr lang="en-US" dirty="0" smtClean="0"/>
              <a:t> level</a:t>
            </a:r>
          </a:p>
          <a:p>
            <a:pPr lvl="3"/>
            <a:r>
              <a:rPr lang="en-US" dirty="0" smtClean="0"/>
              <a:t>Fourth level</a:t>
            </a:r>
          </a:p>
          <a:p>
            <a:pPr lvl="4"/>
            <a:r>
              <a:rPr lang="en-US" dirty="0" smtClean="0"/>
              <a:t>Fifth level</a:t>
            </a:r>
            <a:endParaRPr lang="en-US" dirty="0"/>
          </a:p>
        </p:txBody>
      </p:sp>
      <p:sp>
        <p:nvSpPr>
          <p:cNvPr id="13" name="Rectangle 2"/>
          <p:cNvSpPr>
            <a:spLocks noChangeArrowheads="1"/>
          </p:cNvSpPr>
          <p:nvPr/>
        </p:nvSpPr>
        <p:spPr bwMode="auto">
          <a:xfrm>
            <a:off x="1" y="90100"/>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sp>
        <p:nvSpPr>
          <p:cNvPr id="15" name="Rectangle 3"/>
          <p:cNvSpPr>
            <a:spLocks noChangeArrowheads="1"/>
          </p:cNvSpPr>
          <p:nvPr/>
        </p:nvSpPr>
        <p:spPr bwMode="auto">
          <a:xfrm rot="10800000" flipV="1">
            <a:off x="1397918" y="6512460"/>
            <a:ext cx="4147458"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lvl1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1pPr>
            <a:lvl2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2pPr>
            <a:lvl3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3pPr>
            <a:lvl4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4pPr>
            <a:lvl5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5pPr>
            <a:lvl6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6pPr>
            <a:lvl7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7pPr>
            <a:lvl8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8pPr>
            <a:lvl9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9pPr>
          </a:lstStyle>
          <a:p>
            <a:pPr marL="0" marR="0" lvl="0" indent="0" algn="l" defTabSz="685800" rtl="0" eaLnBrk="0" fontAlgn="base" latinLnBrk="0" hangingPunct="0">
              <a:lnSpc>
                <a:spcPct val="100000"/>
              </a:lnSpc>
              <a:spcBef>
                <a:spcPct val="0"/>
              </a:spcBef>
              <a:spcAft>
                <a:spcPct val="0"/>
              </a:spcAft>
              <a:buClrTx/>
              <a:buSzTx/>
              <a:buFontTx/>
              <a:buNone/>
              <a:tabLst>
                <a:tab pos="2228850" algn="ctr"/>
                <a:tab pos="4457700" algn="r"/>
              </a:tabLst>
            </a:pPr>
            <a:r>
              <a:rPr kumimoji="0" lang="en-US" altLang="en-US" sz="525" b="0" i="0" u="none" strike="noStrike" cap="none" normalizeH="0" baseline="0" dirty="0" smtClean="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This document is licensed with a </a:t>
            </a:r>
            <a:r>
              <a:rPr kumimoji="0" lang="en-US" altLang="en-US" sz="525" b="0" i="0" u="none" strike="noStrike" cap="none" normalizeH="0" baseline="0" dirty="0" smtClean="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hlinkClick r:id="rId14"/>
              </a:rPr>
              <a:t>Creative Commons Attribution 4.0 International License</a:t>
            </a:r>
            <a:r>
              <a:rPr kumimoji="0" lang="en-US" altLang="en-US" sz="525" b="0" i="0" u="none" strike="noStrike" cap="none" normalizeH="0" baseline="0" dirty="0" smtClean="0">
                <a:ln>
                  <a:noFill/>
                </a:ln>
                <a:solidFill>
                  <a:srgbClr val="0070C0"/>
                </a:solidFill>
                <a:effectLst/>
                <a:latin typeface="Calibri" panose="020F0502020204030204" pitchFamily="34" charset="0"/>
                <a:ea typeface="Times New Roman" panose="02020603050405020304" pitchFamily="18" charset="0"/>
                <a:cs typeface="Times New Roman" panose="02020603050405020304" pitchFamily="18" charset="0"/>
              </a:rPr>
              <a:t>   </a:t>
            </a:r>
            <a:r>
              <a:rPr kumimoji="0" lang="en-US" altLang="en-US" sz="525" b="0" i="0" u="none" strike="noStrike" cap="none" normalizeH="0" baseline="0" dirty="0" smtClean="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©2017  </a:t>
            </a:r>
            <a:r>
              <a:rPr kumimoji="0" lang="en-US" altLang="en-US" sz="1200" b="1" i="0" u="none" strike="noStrike" cap="none" normalizeH="0" baseline="0" dirty="0" smtClean="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hlinkClick r:id="rId15"/>
              </a:rPr>
              <a:t>www.C5colleges.org</a:t>
            </a:r>
            <a:endParaRPr kumimoji="0" lang="en-US" altLang="en-US" sz="1350" b="1"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875996"/>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marR="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0.xml"/><Relationship Id="rId4" Type="http://schemas.openxmlformats.org/officeDocument/2006/relationships/hyperlink" Target="https://creativecommons.org/licenses/by/4.0/"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hyperlink" Target="https://creativecommons.org/licenses/by/4.0/"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en.wikipedia.org/wiki/Cipher_suite"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hyperlink" Target="https://creativecommons.org/licenses/by/4.0/"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0.xml"/><Relationship Id="rId4" Type="http://schemas.openxmlformats.org/officeDocument/2006/relationships/hyperlink" Target="https://creativecommons.org/licenses/by/4.0/"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33" name="Shape 33"/>
          <p:cNvSpPr txBox="1">
            <a:spLocks noGrp="1"/>
          </p:cNvSpPr>
          <p:nvPr>
            <p:ph type="ctrTitle"/>
          </p:nvPr>
        </p:nvSpPr>
        <p:spPr>
          <a:prstGeom prst="rect">
            <a:avLst/>
          </a:prstGeom>
          <a:noFill/>
          <a:ln>
            <a:noFill/>
          </a:ln>
        </p:spPr>
        <p:txBody>
          <a:bodyPr lIns="91425" tIns="45700" rIns="91425" bIns="45700" anchor="b" anchorCtr="0">
            <a:noAutofit/>
          </a:bodyPr>
          <a:lstStyle/>
          <a:p>
            <a:pPr marL="0" marR="0" lvl="0" indent="0" algn="l" rtl="0">
              <a:lnSpc>
                <a:spcPct val="100000"/>
              </a:lnSpc>
              <a:spcBef>
                <a:spcPts val="0"/>
              </a:spcBef>
              <a:spcAft>
                <a:spcPts val="0"/>
              </a:spcAft>
              <a:buClr>
                <a:schemeClr val="dk2"/>
              </a:buClr>
              <a:buSzPct val="25000"/>
              <a:buFont typeface="Libre Baskerville"/>
              <a:buNone/>
            </a:pPr>
            <a:r>
              <a:rPr lang="en-US" dirty="0" smtClean="0">
                <a:solidFill>
                  <a:srgbClr val="2354A9"/>
                </a:solidFill>
                <a:ea typeface="Libre Baskerville"/>
                <a:cs typeface="Libre Baskerville"/>
                <a:sym typeface="Libre Baskerville"/>
              </a:rPr>
              <a:t>Applied Cryptography</a:t>
            </a:r>
            <a:endParaRPr lang="en-US" b="1" i="0" u="none" strike="noStrike" dirty="0">
              <a:solidFill>
                <a:srgbClr val="2354A9"/>
              </a:solidFill>
              <a:ea typeface="Libre Baskerville"/>
              <a:cs typeface="Libre Baskerville"/>
              <a:sym typeface="Libre Baskerville"/>
            </a:endParaRPr>
          </a:p>
        </p:txBody>
      </p:sp>
      <p:sp>
        <p:nvSpPr>
          <p:cNvPr id="34" name="Shape 34"/>
          <p:cNvSpPr txBox="1">
            <a:spLocks noGrp="1"/>
          </p:cNvSpPr>
          <p:nvPr>
            <p:ph type="body" sz="quarter" idx="13"/>
          </p:nvPr>
        </p:nvSpPr>
        <p:spPr>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accent1"/>
              </a:buClr>
              <a:buSzPct val="25000"/>
              <a:buFont typeface="Noto Symbol"/>
              <a:buNone/>
            </a:pPr>
            <a:r>
              <a:rPr lang="en-US" sz="2000" b="1" i="0" u="none" strike="noStrike" cap="none" baseline="0" dirty="0" smtClean="0">
                <a:solidFill>
                  <a:srgbClr val="2354A9"/>
                </a:solidFill>
                <a:latin typeface="+mj-lt"/>
                <a:ea typeface="Libre Baskerville"/>
                <a:cs typeface="Libre Baskerville"/>
                <a:sym typeface="Libre Baskerville"/>
              </a:rPr>
              <a:t>Public Key Cryptography</a:t>
            </a:r>
            <a:endParaRPr lang="en-US" sz="2000" b="1" i="0" u="none" strike="noStrike" cap="none" baseline="0" dirty="0">
              <a:solidFill>
                <a:srgbClr val="2354A9"/>
              </a:solidFill>
              <a:latin typeface="+mj-lt"/>
              <a:ea typeface="Libre Baskerville"/>
              <a:cs typeface="Libre Baskerville"/>
              <a:sym typeface="Libre Baskerville"/>
            </a:endParaRPr>
          </a:p>
        </p:txBody>
      </p:sp>
    </p:spTree>
  </p:cSld>
  <p:clrMapOvr>
    <a:masterClrMapping/>
  </p:clrMapOvr>
  <p:transition spd="slow">
    <p:cu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Learning Objectives</a:t>
            </a:r>
            <a:endParaRPr lang="en-US" dirty="0"/>
          </a:p>
        </p:txBody>
      </p:sp>
      <p:sp>
        <p:nvSpPr>
          <p:cNvPr id="3" name="Content Placeholder 2"/>
          <p:cNvSpPr>
            <a:spLocks noGrp="1"/>
          </p:cNvSpPr>
          <p:nvPr>
            <p:ph idx="1"/>
          </p:nvPr>
        </p:nvSpPr>
        <p:spPr/>
        <p:txBody>
          <a:bodyPr/>
          <a:lstStyle/>
          <a:p>
            <a:pPr marL="0" indent="0">
              <a:buNone/>
            </a:pPr>
            <a:r>
              <a:rPr lang="en-US" sz="2400" dirty="0"/>
              <a:t>Upon completion of </a:t>
            </a:r>
            <a:r>
              <a:rPr lang="en-US" sz="2400" dirty="0" smtClean="0"/>
              <a:t>this unit, </a:t>
            </a:r>
            <a:r>
              <a:rPr lang="en-US" sz="2400" dirty="0"/>
              <a:t>students will be able </a:t>
            </a:r>
            <a:r>
              <a:rPr lang="en-US" sz="2400" dirty="0" smtClean="0"/>
              <a:t>to</a:t>
            </a:r>
          </a:p>
          <a:p>
            <a:pPr lvl="0" fontAlgn="base"/>
            <a:r>
              <a:rPr lang="en-US" sz="2400" dirty="0"/>
              <a:t>Explain how asymmetric (public key) encryption works. </a:t>
            </a:r>
          </a:p>
          <a:p>
            <a:pPr lvl="0" fontAlgn="base"/>
            <a:r>
              <a:rPr lang="en-US" sz="2400" dirty="0"/>
              <a:t>Explain the difference between symmetric and asymmetric encryption and the need for public key cryptography. </a:t>
            </a:r>
          </a:p>
          <a:p>
            <a:pPr lvl="0" fontAlgn="base"/>
            <a:r>
              <a:rPr lang="en-US" sz="2400" dirty="0"/>
              <a:t>Explain the use of key exchange/agreement protocols in cryptography. </a:t>
            </a:r>
            <a:endParaRPr lang="en-US" sz="2400" dirty="0" smtClean="0"/>
          </a:p>
          <a:p>
            <a:pPr lvl="0" fontAlgn="base"/>
            <a:r>
              <a:rPr lang="en-US" sz="2400" dirty="0" smtClean="0"/>
              <a:t>Identify </a:t>
            </a:r>
            <a:r>
              <a:rPr lang="en-US" sz="2400" dirty="0"/>
              <a:t>commonly used algorithms for asymmetric encryption. </a:t>
            </a:r>
          </a:p>
          <a:p>
            <a:endParaRPr lang="en-US" dirty="0"/>
          </a:p>
        </p:txBody>
      </p:sp>
    </p:spTree>
    <p:extLst>
      <p:ext uri="{BB962C8B-B14F-4D97-AF65-F5344CB8AC3E}">
        <p14:creationId xmlns:p14="http://schemas.microsoft.com/office/powerpoint/2010/main" val="285066346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Recall: Cryptography</a:t>
            </a:r>
            <a:endParaRPr lang="en-US" dirty="0"/>
          </a:p>
        </p:txBody>
      </p:sp>
      <p:sp>
        <p:nvSpPr>
          <p:cNvPr id="5" name="Text Placeholder 4"/>
          <p:cNvSpPr>
            <a:spLocks noGrp="1"/>
          </p:cNvSpPr>
          <p:nvPr>
            <p:ph idx="1"/>
          </p:nvPr>
        </p:nvSpPr>
        <p:spPr/>
        <p:txBody>
          <a:bodyPr/>
          <a:lstStyle/>
          <a:p>
            <a:r>
              <a:rPr lang="en-US" dirty="0" smtClean="0"/>
              <a:t>Cryptography is “the practice and study of techniques for secure communication in the presence of adversaries” (Wikipedia)</a:t>
            </a:r>
          </a:p>
          <a:p>
            <a:endParaRPr lang="en-US" dirty="0" smtClean="0"/>
          </a:p>
          <a:p>
            <a:r>
              <a:rPr lang="en-US" dirty="0" smtClean="0"/>
              <a:t>It is the science of designing systems to store and transmit data in a secure way so that it preserves its integrity and is accessible to only those with proper authentication and authorization.</a:t>
            </a:r>
            <a:endParaRPr lang="en-US" dirty="0"/>
          </a:p>
        </p:txBody>
      </p:sp>
    </p:spTree>
    <p:extLst>
      <p:ext uri="{BB962C8B-B14F-4D97-AF65-F5344CB8AC3E}">
        <p14:creationId xmlns:p14="http://schemas.microsoft.com/office/powerpoint/2010/main" val="31632948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Shape 71"/>
          <p:cNvSpPr txBox="1">
            <a:spLocks noGrp="1"/>
          </p:cNvSpPr>
          <p:nvPr>
            <p:ph type="title"/>
          </p:nvPr>
        </p:nvSpPr>
        <p:spPr>
          <a:xfrm>
            <a:off x="457200" y="762000"/>
            <a:ext cx="8229600" cy="1143000"/>
          </a:xfrm>
          <a:prstGeom prst="rect">
            <a:avLst/>
          </a:prstGeom>
          <a:noFill/>
          <a:ln>
            <a:noFill/>
          </a:ln>
        </p:spPr>
        <p:txBody>
          <a:bodyPr lIns="91425" tIns="45700" rIns="91425" bIns="45700" anchor="b" anchorCtr="0">
            <a:noAutofit/>
          </a:bodyPr>
          <a:lstStyle/>
          <a:p>
            <a:pPr marL="0" marR="0" lvl="0" indent="0" rtl="0">
              <a:lnSpc>
                <a:spcPct val="100000"/>
              </a:lnSpc>
              <a:spcBef>
                <a:spcPts val="0"/>
              </a:spcBef>
              <a:spcAft>
                <a:spcPts val="0"/>
              </a:spcAft>
              <a:buClr>
                <a:schemeClr val="dk2"/>
              </a:buClr>
              <a:buSzPct val="25000"/>
              <a:buFont typeface="Libre Baskerville"/>
              <a:buNone/>
            </a:pPr>
            <a:r>
              <a:rPr lang="en-US" dirty="0" smtClean="0"/>
              <a:t>Recall: Cryptography and the Main Tenets of Information Security</a:t>
            </a:r>
            <a:endParaRPr lang="en-US" sz="3000" b="0" i="0" u="none" strike="noStrike" cap="small" baseline="0" dirty="0">
              <a:solidFill>
                <a:schemeClr val="dk2"/>
              </a:solidFill>
              <a:latin typeface="Libre Baskerville"/>
              <a:ea typeface="Libre Baskerville"/>
              <a:cs typeface="Libre Baskerville"/>
              <a:sym typeface="Libre Baskerville"/>
            </a:endParaRPr>
          </a:p>
        </p:txBody>
      </p:sp>
      <p:sp>
        <p:nvSpPr>
          <p:cNvPr id="72" name="Shape 72"/>
          <p:cNvSpPr txBox="1">
            <a:spLocks noGrp="1"/>
          </p:cNvSpPr>
          <p:nvPr>
            <p:ph idx="1"/>
          </p:nvPr>
        </p:nvSpPr>
        <p:spPr>
          <a:xfrm>
            <a:off x="628650" y="2057400"/>
            <a:ext cx="7886700" cy="4351338"/>
          </a:xfrm>
          <a:prstGeom prst="rect">
            <a:avLst/>
          </a:prstGeom>
          <a:noFill/>
          <a:ln>
            <a:noFill/>
          </a:ln>
        </p:spPr>
        <p:txBody>
          <a:bodyPr lIns="91425" tIns="45700" rIns="91425" bIns="45700" anchor="t" anchorCtr="0">
            <a:noAutofit/>
          </a:bodyPr>
          <a:lstStyle/>
          <a:p>
            <a:pPr marR="0" lvl="0" algn="l" rtl="0">
              <a:lnSpc>
                <a:spcPct val="100000"/>
              </a:lnSpc>
              <a:spcBef>
                <a:spcPts val="0"/>
              </a:spcBef>
              <a:spcAft>
                <a:spcPts val="0"/>
              </a:spcAft>
              <a:buSzPct val="70000"/>
              <a:buFont typeface="Calibri" panose="020F0502020204030204" pitchFamily="34" charset="0"/>
              <a:buChar char="•"/>
            </a:pPr>
            <a:r>
              <a:rPr lang="en-US" sz="2400" b="0" i="0" u="none" strike="noStrike" cap="none" baseline="0" dirty="0">
                <a:ea typeface="Libre Baskerville"/>
                <a:cs typeface="Libre Baskerville"/>
                <a:sym typeface="Libre Baskerville"/>
              </a:rPr>
              <a:t>Confidentiality </a:t>
            </a:r>
          </a:p>
          <a:p>
            <a:pPr marL="685800" marR="0" lvl="1" indent="-342900" algn="l" rtl="0">
              <a:lnSpc>
                <a:spcPct val="100000"/>
              </a:lnSpc>
              <a:spcBef>
                <a:spcPts val="420"/>
              </a:spcBef>
              <a:spcAft>
                <a:spcPts val="0"/>
              </a:spcAft>
              <a:buSzPct val="79999"/>
              <a:buFont typeface="Calibri" panose="020F0502020204030204" pitchFamily="34" charset="0"/>
              <a:buChar char="•"/>
            </a:pPr>
            <a:r>
              <a:rPr lang="en-US" sz="2100" b="0" i="0" u="none" strike="noStrike" cap="none" baseline="0" dirty="0">
                <a:ea typeface="Libre Baskerville"/>
                <a:cs typeface="Libre Baskerville"/>
                <a:sym typeface="Libre Baskerville"/>
              </a:rPr>
              <a:t>Encryption algorithms</a:t>
            </a:r>
          </a:p>
          <a:p>
            <a:pPr marR="0" lvl="0" algn="l" rtl="0">
              <a:lnSpc>
                <a:spcPct val="100000"/>
              </a:lnSpc>
              <a:spcBef>
                <a:spcPts val="600"/>
              </a:spcBef>
              <a:spcAft>
                <a:spcPts val="0"/>
              </a:spcAft>
              <a:buSzPct val="70000"/>
              <a:buFont typeface="Calibri" panose="020F0502020204030204" pitchFamily="34" charset="0"/>
              <a:buChar char="•"/>
            </a:pPr>
            <a:r>
              <a:rPr lang="en-US" sz="2400" b="0" i="0" u="none" strike="noStrike" cap="none" baseline="0" dirty="0">
                <a:ea typeface="Libre Baskerville"/>
                <a:cs typeface="Libre Baskerville"/>
                <a:sym typeface="Libre Baskerville"/>
              </a:rPr>
              <a:t>Integrity </a:t>
            </a:r>
          </a:p>
          <a:p>
            <a:pPr marL="698500" marR="0" lvl="1" indent="-342900" algn="l" rtl="0">
              <a:lnSpc>
                <a:spcPct val="100000"/>
              </a:lnSpc>
              <a:spcBef>
                <a:spcPts val="420"/>
              </a:spcBef>
              <a:spcAft>
                <a:spcPts val="0"/>
              </a:spcAft>
              <a:buSzPct val="79999"/>
              <a:buFont typeface="Calibri" panose="020F0502020204030204" pitchFamily="34" charset="0"/>
              <a:buChar char="•"/>
            </a:pPr>
            <a:r>
              <a:rPr lang="en-US" sz="2100" b="0" i="0" u="none" strike="noStrike" cap="none" baseline="0" dirty="0">
                <a:ea typeface="Libre Baskerville"/>
                <a:cs typeface="Libre Baskerville"/>
                <a:sym typeface="Libre Baskerville"/>
              </a:rPr>
              <a:t> Hash functions</a:t>
            </a:r>
          </a:p>
          <a:p>
            <a:pPr marR="0" lvl="0" algn="l" rtl="0">
              <a:lnSpc>
                <a:spcPct val="100000"/>
              </a:lnSpc>
              <a:spcBef>
                <a:spcPts val="600"/>
              </a:spcBef>
              <a:spcAft>
                <a:spcPts val="0"/>
              </a:spcAft>
              <a:buSzPct val="70000"/>
              <a:buFont typeface="Calibri" panose="020F0502020204030204" pitchFamily="34" charset="0"/>
              <a:buChar char="•"/>
            </a:pPr>
            <a:r>
              <a:rPr lang="en-US" sz="2400" b="0" i="0" u="none" strike="noStrike" cap="none" baseline="0" dirty="0">
                <a:ea typeface="Libre Baskerville"/>
                <a:cs typeface="Libre Baskerville"/>
                <a:sym typeface="Libre Baskerville"/>
              </a:rPr>
              <a:t>Authenticity</a:t>
            </a:r>
          </a:p>
          <a:p>
            <a:pPr marL="698500" marR="0" lvl="1" indent="-342900" algn="l" rtl="0">
              <a:lnSpc>
                <a:spcPct val="100000"/>
              </a:lnSpc>
              <a:spcBef>
                <a:spcPts val="420"/>
              </a:spcBef>
              <a:spcAft>
                <a:spcPts val="0"/>
              </a:spcAft>
              <a:buSzPct val="79999"/>
              <a:buFont typeface="Calibri" panose="020F0502020204030204" pitchFamily="34" charset="0"/>
              <a:buChar char="•"/>
            </a:pPr>
            <a:r>
              <a:rPr lang="en-US" sz="2100" b="0" i="0" u="none" strike="noStrike" cap="none" baseline="0" dirty="0">
                <a:ea typeface="Libre Baskerville"/>
                <a:cs typeface="Libre Baskerville"/>
                <a:sym typeface="Libre Baskerville"/>
              </a:rPr>
              <a:t>Digital </a:t>
            </a:r>
            <a:r>
              <a:rPr lang="en-US" sz="2100" b="0" i="0" u="none" strike="noStrike" cap="none" baseline="0" dirty="0" smtClean="0">
                <a:ea typeface="Libre Baskerville"/>
                <a:cs typeface="Libre Baskerville"/>
                <a:sym typeface="Libre Baskerville"/>
              </a:rPr>
              <a:t>signatures, digital certificates</a:t>
            </a:r>
            <a:endParaRPr lang="en-US" sz="2100" b="0" i="0" u="none" strike="noStrike" cap="none" baseline="0" dirty="0">
              <a:ea typeface="Libre Baskerville"/>
              <a:cs typeface="Libre Baskerville"/>
              <a:sym typeface="Libre Baskerville"/>
            </a:endParaRPr>
          </a:p>
          <a:p>
            <a:pPr marR="0" lvl="0" algn="l" rtl="0">
              <a:lnSpc>
                <a:spcPct val="100000"/>
              </a:lnSpc>
              <a:spcBef>
                <a:spcPts val="600"/>
              </a:spcBef>
              <a:spcAft>
                <a:spcPts val="0"/>
              </a:spcAft>
              <a:buSzPct val="70000"/>
              <a:buFont typeface="Calibri" panose="020F0502020204030204" pitchFamily="34" charset="0"/>
              <a:buChar char="•"/>
            </a:pPr>
            <a:r>
              <a:rPr lang="en-US" sz="2400" b="0" i="0" u="none" strike="noStrike" cap="none" baseline="0" dirty="0" smtClean="0">
                <a:ea typeface="Libre Baskerville"/>
                <a:cs typeface="Libre Baskerville"/>
                <a:sym typeface="Libre Baskerville"/>
              </a:rPr>
              <a:t>Non-repudiation</a:t>
            </a:r>
            <a:r>
              <a:rPr lang="en-US" sz="2400" b="0" i="0" u="none" strike="noStrike" cap="none" baseline="0" dirty="0">
                <a:ea typeface="Libre Baskerville"/>
                <a:cs typeface="Libre Baskerville"/>
                <a:sym typeface="Libre Baskerville"/>
              </a:rPr>
              <a:t>	</a:t>
            </a:r>
          </a:p>
          <a:p>
            <a:pPr marL="698500" marR="0" lvl="1" indent="-342900" algn="l" rtl="0">
              <a:lnSpc>
                <a:spcPct val="100000"/>
              </a:lnSpc>
              <a:spcBef>
                <a:spcPts val="420"/>
              </a:spcBef>
              <a:spcAft>
                <a:spcPts val="0"/>
              </a:spcAft>
              <a:buSzPct val="79999"/>
              <a:buFont typeface="Calibri" panose="020F0502020204030204" pitchFamily="34" charset="0"/>
              <a:buChar char="•"/>
            </a:pPr>
            <a:r>
              <a:rPr lang="en-US" sz="2100" b="0" i="0" u="none" strike="noStrike" cap="none" baseline="0" dirty="0">
                <a:ea typeface="Libre Baskerville"/>
                <a:cs typeface="Libre Baskerville"/>
                <a:sym typeface="Libre Baskerville"/>
              </a:rPr>
              <a:t>Digital </a:t>
            </a:r>
            <a:r>
              <a:rPr lang="en-US" sz="2100" b="0" i="0" u="none" strike="noStrike" cap="none" baseline="0" dirty="0" smtClean="0">
                <a:ea typeface="Libre Baskerville"/>
                <a:cs typeface="Libre Baskerville"/>
                <a:sym typeface="Libre Baskerville"/>
              </a:rPr>
              <a:t>signatures, digital </a:t>
            </a:r>
            <a:r>
              <a:rPr lang="en-US" sz="2100" dirty="0">
                <a:ea typeface="Libre Baskerville"/>
                <a:cs typeface="Libre Baskerville"/>
                <a:sym typeface="Libre Baskerville"/>
              </a:rPr>
              <a:t>c</a:t>
            </a:r>
            <a:r>
              <a:rPr lang="en-US" sz="2100" b="0" i="0" u="none" strike="noStrike" cap="none" baseline="0" dirty="0" smtClean="0">
                <a:ea typeface="Libre Baskerville"/>
                <a:cs typeface="Libre Baskerville"/>
                <a:sym typeface="Libre Baskerville"/>
              </a:rPr>
              <a:t>ertificates</a:t>
            </a:r>
            <a:endParaRPr lang="en-US" sz="2100" b="0" i="0" u="none" strike="noStrike" cap="none" baseline="0" dirty="0">
              <a:ea typeface="Libre Baskerville"/>
              <a:cs typeface="Libre Baskerville"/>
              <a:sym typeface="Libre Baskerville"/>
            </a:endParaRPr>
          </a:p>
        </p:txBody>
      </p:sp>
    </p:spTree>
    <p:extLst>
      <p:ext uri="{BB962C8B-B14F-4D97-AF65-F5344CB8AC3E}">
        <p14:creationId xmlns:p14="http://schemas.microsoft.com/office/powerpoint/2010/main" val="2210239822"/>
      </p:ext>
    </p:extLst>
  </p:cSld>
  <p:clrMapOvr>
    <a:masterClrMapping/>
  </p:clrMapOvr>
  <p:transition spd="slow">
    <p:cu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Shape 77"/>
          <p:cNvSpPr txBox="1">
            <a:spLocks noGrp="1"/>
          </p:cNvSpPr>
          <p:nvPr>
            <p:ph type="title" idx="4294967295"/>
          </p:nvPr>
        </p:nvSpPr>
        <p:spPr>
          <a:xfrm>
            <a:off x="533400" y="488950"/>
            <a:ext cx="8374011" cy="792162"/>
          </a:xfrm>
          <a:prstGeom prst="rect">
            <a:avLst/>
          </a:prstGeom>
          <a:solidFill>
            <a:schemeClr val="bg1"/>
          </a:solidFill>
          <a:ln>
            <a:noFill/>
          </a:ln>
        </p:spPr>
        <p:txBody>
          <a:bodyPr lIns="91425" tIns="45700" rIns="91425" bIns="45700" anchor="b" anchorCtr="0">
            <a:noAutofit/>
          </a:bodyPr>
          <a:lstStyle/>
          <a:p>
            <a:pPr marL="0" marR="0" lvl="0" indent="0" rtl="0">
              <a:lnSpc>
                <a:spcPct val="100000"/>
              </a:lnSpc>
              <a:spcBef>
                <a:spcPts val="0"/>
              </a:spcBef>
              <a:spcAft>
                <a:spcPts val="0"/>
              </a:spcAft>
              <a:buClr>
                <a:schemeClr val="dk2"/>
              </a:buClr>
              <a:buSzPct val="25000"/>
              <a:buFont typeface="Libre Baskerville"/>
              <a:buNone/>
            </a:pPr>
            <a:r>
              <a:rPr lang="en-US" sz="3600" b="0" i="0" u="none" strike="noStrike" dirty="0" smtClean="0">
                <a:ea typeface="Libre Baskerville"/>
                <a:cs typeface="Libre Baskerville"/>
                <a:sym typeface="Libre Baskerville"/>
              </a:rPr>
              <a:t>Recall: Symmetric Key Cryptography</a:t>
            </a:r>
            <a:endParaRPr lang="en-US" sz="3600" b="0" i="0" u="none" strike="noStrike" dirty="0">
              <a:ea typeface="Libre Baskerville"/>
              <a:cs typeface="Libre Baskerville"/>
              <a:sym typeface="Libre Baskerville"/>
            </a:endParaRPr>
          </a:p>
        </p:txBody>
      </p:sp>
      <p:grpSp>
        <p:nvGrpSpPr>
          <p:cNvPr id="2" name="Group 1"/>
          <p:cNvGrpSpPr/>
          <p:nvPr/>
        </p:nvGrpSpPr>
        <p:grpSpPr>
          <a:xfrm>
            <a:off x="236590" y="1243012"/>
            <a:ext cx="8670821" cy="5614988"/>
            <a:chOff x="236590" y="1243012"/>
            <a:chExt cx="8670821" cy="5614988"/>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590" y="1243012"/>
              <a:ext cx="8670821" cy="56149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2590800" y="6172200"/>
              <a:ext cx="4343400" cy="230832"/>
            </a:xfrm>
            <a:prstGeom prst="rect">
              <a:avLst/>
            </a:prstGeom>
            <a:noFill/>
          </p:spPr>
          <p:txBody>
            <a:bodyPr wrap="square" rtlCol="0">
              <a:spAutoFit/>
            </a:bodyPr>
            <a:lstStyle/>
            <a:p>
              <a:r>
                <a:rPr lang="en-US" sz="900" dirty="0" smtClean="0"/>
                <a:t>“Symmetric Encryption" </a:t>
              </a:r>
              <a:r>
                <a:rPr lang="en-US" sz="900" dirty="0"/>
                <a:t>by Yesem Kurt-</a:t>
              </a:r>
              <a:r>
                <a:rPr lang="en-US" sz="900" dirty="0" err="1"/>
                <a:t>Peker</a:t>
              </a:r>
              <a:r>
                <a:rPr lang="en-US" sz="900" dirty="0"/>
                <a:t> licensed under </a:t>
              </a:r>
              <a:r>
                <a:rPr lang="en-US" sz="900" dirty="0">
                  <a:hlinkClick r:id="rId4"/>
                </a:rPr>
                <a:t>CC BY 4.0 </a:t>
              </a:r>
              <a:endParaRPr lang="en-US" sz="900" dirty="0"/>
            </a:p>
          </p:txBody>
        </p:sp>
      </p:grpSp>
    </p:spTree>
  </p:cSld>
  <p:clrMapOvr>
    <a:masterClrMapping/>
  </p:clrMapOvr>
  <p:transition spd="slow">
    <p:cu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Shape 95"/>
          <p:cNvSpPr txBox="1">
            <a:spLocks noGrp="1"/>
          </p:cNvSpPr>
          <p:nvPr>
            <p:ph type="title"/>
          </p:nvPr>
        </p:nvSpPr>
        <p:spPr>
          <a:prstGeom prst="rect">
            <a:avLst/>
          </a:prstGeom>
          <a:noFill/>
          <a:ln>
            <a:noFill/>
          </a:ln>
        </p:spPr>
        <p:txBody>
          <a:bodyPr lIns="91425" tIns="45700" rIns="91425" bIns="45700" anchor="b" anchorCtr="0">
            <a:noAutofit/>
          </a:bodyPr>
          <a:lstStyle/>
          <a:p>
            <a:pPr lvl="0">
              <a:buClr>
                <a:schemeClr val="dk2"/>
              </a:buClr>
              <a:buSzPct val="25000"/>
            </a:pPr>
            <a:r>
              <a:rPr lang="en-US" sz="3600" dirty="0" smtClean="0"/>
              <a:t>Recall Problem of Key </a:t>
            </a:r>
            <a:r>
              <a:rPr lang="en-US" sz="3600" dirty="0"/>
              <a:t>Distribution and Management</a:t>
            </a:r>
            <a:endParaRPr lang="en-US" sz="3600" b="0" i="0" u="none" strike="noStrike" cap="small" baseline="0" dirty="0">
              <a:solidFill>
                <a:schemeClr val="dk2"/>
              </a:solidFill>
              <a:sym typeface="Libre Baskerville"/>
            </a:endParaRPr>
          </a:p>
        </p:txBody>
      </p:sp>
      <p:sp>
        <p:nvSpPr>
          <p:cNvPr id="96" name="Shape 96"/>
          <p:cNvSpPr txBox="1">
            <a:spLocks noGrp="1"/>
          </p:cNvSpPr>
          <p:nvPr>
            <p:ph idx="1"/>
          </p:nvPr>
        </p:nvSpPr>
        <p:spPr>
          <a:xfrm>
            <a:off x="457200" y="2143126"/>
            <a:ext cx="8229600" cy="4257674"/>
          </a:xfrm>
          <a:prstGeom prst="rect">
            <a:avLst/>
          </a:prstGeom>
          <a:noFill/>
          <a:ln>
            <a:noFill/>
          </a:ln>
        </p:spPr>
        <p:txBody>
          <a:bodyPr lIns="91425" tIns="45700" rIns="91425" bIns="45700" anchor="t" anchorCtr="0">
            <a:noAutofit/>
          </a:bodyPr>
          <a:lstStyle/>
          <a:p>
            <a:pPr marR="0" lvl="0" algn="l" rtl="0">
              <a:lnSpc>
                <a:spcPct val="100000"/>
              </a:lnSpc>
              <a:spcBef>
                <a:spcPts val="0"/>
              </a:spcBef>
              <a:spcAft>
                <a:spcPts val="0"/>
              </a:spcAft>
              <a:buSzPct val="70000"/>
              <a:buFont typeface="Calibri" panose="020F0502020204030204" pitchFamily="34" charset="0"/>
              <a:buChar char="•"/>
            </a:pPr>
            <a:r>
              <a:rPr lang="en-US" sz="2400" b="0" i="0" u="none" strike="noStrike" cap="none" baseline="0" dirty="0" smtClean="0">
                <a:ea typeface="Libre Baskerville"/>
                <a:cs typeface="Libre Baskerville"/>
                <a:sym typeface="Libre Baskerville"/>
              </a:rPr>
              <a:t>Modern symmetric key algorithms are great! They are fast</a:t>
            </a:r>
            <a:r>
              <a:rPr lang="en-US" sz="2400" b="0" i="0" u="none" strike="noStrike" cap="none" dirty="0" smtClean="0">
                <a:ea typeface="Libre Baskerville"/>
                <a:cs typeface="Libre Baskerville"/>
                <a:sym typeface="Libre Baskerville"/>
              </a:rPr>
              <a:t> and secure when implemented correctly and keys are chosen properly.</a:t>
            </a:r>
            <a:br>
              <a:rPr lang="en-US" sz="2400" b="0" i="0" u="none" strike="noStrike" cap="none" dirty="0" smtClean="0">
                <a:ea typeface="Libre Baskerville"/>
                <a:cs typeface="Libre Baskerville"/>
                <a:sym typeface="Libre Baskerville"/>
              </a:rPr>
            </a:br>
            <a:endParaRPr lang="en-US" baseline="0" dirty="0"/>
          </a:p>
          <a:p>
            <a:pPr marR="0" lvl="0" algn="l" rtl="0">
              <a:lnSpc>
                <a:spcPct val="100000"/>
              </a:lnSpc>
              <a:spcBef>
                <a:spcPts val="0"/>
              </a:spcBef>
              <a:spcAft>
                <a:spcPts val="0"/>
              </a:spcAft>
              <a:buSzPct val="70000"/>
              <a:buFont typeface="Calibri" panose="020F0502020204030204" pitchFamily="34" charset="0"/>
              <a:buChar char="•"/>
            </a:pPr>
            <a:r>
              <a:rPr lang="en-US" sz="2400" b="0" i="0" u="none" strike="noStrike" cap="none" baseline="0" dirty="0" smtClean="0">
                <a:ea typeface="Libre Baskerville"/>
                <a:cs typeface="Libre Baskerville"/>
                <a:sym typeface="Libre Baskerville"/>
              </a:rPr>
              <a:t>Problem: How </a:t>
            </a:r>
            <a:r>
              <a:rPr lang="en-US" sz="2400" b="0" i="0" u="none" strike="noStrike" cap="none" baseline="0" dirty="0">
                <a:ea typeface="Libre Baskerville"/>
                <a:cs typeface="Libre Baskerville"/>
                <a:sym typeface="Libre Baskerville"/>
              </a:rPr>
              <a:t>to get the keys to the two parties? </a:t>
            </a:r>
            <a:endParaRPr lang="en-US" sz="2400" b="0" i="0" u="none" strike="noStrike" cap="none" baseline="0" dirty="0" smtClean="0">
              <a:ea typeface="Libre Baskerville"/>
              <a:cs typeface="Libre Baskerville"/>
              <a:sym typeface="Libre Baskerville"/>
            </a:endParaRPr>
          </a:p>
          <a:p>
            <a:pPr marL="527050" lvl="1" indent="-285750">
              <a:spcBef>
                <a:spcPts val="600"/>
              </a:spcBef>
              <a:buSzPct val="70000"/>
              <a:buFont typeface="Calibri" panose="020F0502020204030204" pitchFamily="34" charset="0"/>
              <a:buChar char="•"/>
            </a:pPr>
            <a:r>
              <a:rPr lang="en-US" sz="2000" b="0" i="0" u="none" strike="noStrike" cap="none" baseline="0" dirty="0" smtClean="0">
                <a:ea typeface="Libre Baskerville"/>
                <a:cs typeface="Libre Baskerville"/>
                <a:sym typeface="Libre Baskerville"/>
              </a:rPr>
              <a:t>Need </a:t>
            </a:r>
            <a:r>
              <a:rPr lang="en-US" sz="2000" b="0" i="0" u="none" strike="noStrike" cap="none" baseline="0" dirty="0">
                <a:ea typeface="Libre Baskerville"/>
                <a:cs typeface="Libre Baskerville"/>
                <a:sym typeface="Libre Baskerville"/>
              </a:rPr>
              <a:t>a secure </a:t>
            </a:r>
            <a:r>
              <a:rPr lang="en-US" sz="2000" b="0" i="0" u="none" strike="noStrike" cap="none" baseline="0" dirty="0" smtClean="0">
                <a:ea typeface="Libre Baskerville"/>
                <a:cs typeface="Libre Baskerville"/>
                <a:sym typeface="Libre Baskerville"/>
              </a:rPr>
              <a:t>channel – a channel that makes it very difficult for the adversary to access</a:t>
            </a:r>
            <a:r>
              <a:rPr lang="en-US" sz="2000" b="0" i="0" u="none" strike="noStrike" cap="none" dirty="0" smtClean="0">
                <a:ea typeface="Libre Baskerville"/>
                <a:cs typeface="Libre Baskerville"/>
                <a:sym typeface="Libre Baskerville"/>
              </a:rPr>
              <a:t> the actual plaintext that  is being transmitted.</a:t>
            </a:r>
            <a:endParaRPr lang="en-US" sz="2000" b="0" i="0" u="none" strike="noStrike" cap="none" baseline="0" dirty="0" smtClean="0">
              <a:ea typeface="Libre Baskerville"/>
              <a:cs typeface="Libre Baskerville"/>
              <a:sym typeface="Libre Baskerville"/>
            </a:endParaRPr>
          </a:p>
          <a:p>
            <a:pPr marL="527050" lvl="1" indent="-285750">
              <a:spcBef>
                <a:spcPts val="600"/>
              </a:spcBef>
              <a:buSzPct val="70000"/>
              <a:buFont typeface="Calibri" panose="020F0502020204030204" pitchFamily="34" charset="0"/>
              <a:buChar char="•"/>
            </a:pPr>
            <a:r>
              <a:rPr lang="en-US" sz="2000" dirty="0" smtClean="0"/>
              <a:t>But the Internet is not secure!</a:t>
            </a:r>
          </a:p>
          <a:p>
            <a:pPr marL="527050" lvl="1" indent="-285750">
              <a:spcBef>
                <a:spcPts val="600"/>
              </a:spcBef>
              <a:buSzPct val="70000"/>
              <a:buFont typeface="Calibri" panose="020F0502020204030204" pitchFamily="34" charset="0"/>
              <a:buChar char="•"/>
            </a:pPr>
            <a:endParaRPr lang="en-US" sz="2000" dirty="0"/>
          </a:p>
          <a:p>
            <a:pPr marL="184150" indent="-285750">
              <a:spcBef>
                <a:spcPts val="600"/>
              </a:spcBef>
              <a:buSzPct val="70000"/>
              <a:buFont typeface="Calibri" panose="020F0502020204030204" pitchFamily="34" charset="0"/>
              <a:buChar char="•"/>
            </a:pPr>
            <a:r>
              <a:rPr lang="en-US" b="1" dirty="0" smtClean="0"/>
              <a:t>Solution</a:t>
            </a:r>
            <a:r>
              <a:rPr lang="en-US" b="1" dirty="0"/>
              <a:t>:</a:t>
            </a:r>
            <a:r>
              <a:rPr lang="en-US" dirty="0"/>
              <a:t> Public Key Cryptography</a:t>
            </a:r>
          </a:p>
          <a:p>
            <a:pPr marL="527050" lvl="1" indent="-285750">
              <a:spcBef>
                <a:spcPts val="600"/>
              </a:spcBef>
              <a:buSzPct val="70000"/>
              <a:buFont typeface="Calibri" panose="020F0502020204030204" pitchFamily="34" charset="0"/>
              <a:buChar char="•"/>
            </a:pPr>
            <a:endParaRPr lang="en-US" dirty="0" smtClean="0"/>
          </a:p>
          <a:p>
            <a:pPr lvl="1" indent="-273050">
              <a:spcBef>
                <a:spcPts val="600"/>
              </a:spcBef>
              <a:buSzPct val="70000"/>
              <a:buFont typeface="Noto Symbol"/>
              <a:buChar char="•"/>
            </a:pPr>
            <a:endParaRPr lang="en-US" sz="2100" b="0" i="0" u="none" strike="noStrike" cap="none" baseline="0" dirty="0">
              <a:solidFill>
                <a:schemeClr val="dk1"/>
              </a:solidFill>
              <a:latin typeface="Libre Baskerville"/>
              <a:ea typeface="Libre Baskerville"/>
              <a:cs typeface="Libre Baskerville"/>
              <a:sym typeface="Libre Baskerville"/>
            </a:endParaRPr>
          </a:p>
        </p:txBody>
      </p:sp>
    </p:spTree>
    <p:extLst>
      <p:ext uri="{BB962C8B-B14F-4D97-AF65-F5344CB8AC3E}">
        <p14:creationId xmlns:p14="http://schemas.microsoft.com/office/powerpoint/2010/main" val="12221480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Shape 101"/>
          <p:cNvSpPr txBox="1">
            <a:spLocks noGrp="1"/>
          </p:cNvSpPr>
          <p:nvPr>
            <p:ph type="title"/>
          </p:nvPr>
        </p:nvSpPr>
        <p:spPr>
          <a:xfrm>
            <a:off x="628650" y="304800"/>
            <a:ext cx="7696200" cy="838200"/>
          </a:xfrm>
          <a:prstGeom prst="rect">
            <a:avLst/>
          </a:prstGeom>
          <a:noFill/>
          <a:ln>
            <a:noFill/>
          </a:ln>
        </p:spPr>
        <p:txBody>
          <a:bodyPr lIns="91425" tIns="45700" rIns="91425" bIns="45700" anchor="b" anchorCtr="0">
            <a:noAutofit/>
          </a:bodyPr>
          <a:lstStyle/>
          <a:p>
            <a:pPr marL="0" marR="0" lvl="0" indent="0" rtl="0">
              <a:lnSpc>
                <a:spcPct val="100000"/>
              </a:lnSpc>
              <a:spcBef>
                <a:spcPts val="0"/>
              </a:spcBef>
              <a:spcAft>
                <a:spcPts val="0"/>
              </a:spcAft>
              <a:buClr>
                <a:schemeClr val="dk2"/>
              </a:buClr>
              <a:buSzPct val="25000"/>
              <a:buFont typeface="Libre Baskerville"/>
              <a:buNone/>
            </a:pPr>
            <a:r>
              <a:rPr lang="en-US" b="0" i="0" u="none" strike="noStrike" dirty="0" smtClean="0">
                <a:ea typeface="Libre Baskerville"/>
                <a:cs typeface="Libre Baskerville"/>
                <a:sym typeface="Libre Baskerville"/>
              </a:rPr>
              <a:t>Public Key Cryptography</a:t>
            </a:r>
            <a:endParaRPr lang="en-US" b="0" i="0" u="none" strike="noStrike" dirty="0">
              <a:ea typeface="Libre Baskerville"/>
              <a:cs typeface="Libre Baskerville"/>
              <a:sym typeface="Libre Baskerville"/>
            </a:endParaRPr>
          </a:p>
        </p:txBody>
      </p:sp>
      <p:sp>
        <p:nvSpPr>
          <p:cNvPr id="102" name="Shape 102"/>
          <p:cNvSpPr txBox="1">
            <a:spLocks noGrp="1"/>
          </p:cNvSpPr>
          <p:nvPr>
            <p:ph idx="1"/>
          </p:nvPr>
        </p:nvSpPr>
        <p:spPr>
          <a:xfrm>
            <a:off x="628650" y="1371600"/>
            <a:ext cx="7886700" cy="4351338"/>
          </a:xfrm>
          <a:prstGeom prst="rect">
            <a:avLst/>
          </a:prstGeom>
          <a:noFill/>
          <a:ln>
            <a:noFill/>
          </a:ln>
        </p:spPr>
        <p:txBody>
          <a:bodyPr lIns="91425" tIns="45700" rIns="91425" bIns="45700" anchor="t" anchorCtr="0">
            <a:noAutofit/>
          </a:bodyPr>
          <a:lstStyle/>
          <a:p>
            <a:pPr>
              <a:lnSpc>
                <a:spcPct val="100000"/>
              </a:lnSpc>
              <a:spcBef>
                <a:spcPts val="0"/>
              </a:spcBef>
              <a:buSzPct val="70000"/>
              <a:buFont typeface="Calibri" panose="020F0502020204030204" pitchFamily="34" charset="0"/>
              <a:buChar char="•"/>
            </a:pPr>
            <a:endParaRPr lang="en-US" sz="2400" b="0" i="0" u="none" strike="noStrike" cap="none" baseline="0" dirty="0" smtClean="0">
              <a:ea typeface="Libre Baskerville"/>
              <a:cs typeface="Libre Baskerville"/>
              <a:sym typeface="Libre Baskerville"/>
            </a:endParaRPr>
          </a:p>
          <a:p>
            <a:pPr>
              <a:lnSpc>
                <a:spcPct val="100000"/>
              </a:lnSpc>
              <a:spcBef>
                <a:spcPts val="0"/>
              </a:spcBef>
              <a:buSzPct val="70000"/>
              <a:buFont typeface="Calibri" panose="020F0502020204030204" pitchFamily="34" charset="0"/>
              <a:buChar char="•"/>
            </a:pPr>
            <a:r>
              <a:rPr lang="en-US" sz="2400" b="0" i="0" u="none" strike="noStrike" cap="none" baseline="0" dirty="0" smtClean="0">
                <a:ea typeface="Libre Baskerville"/>
                <a:cs typeface="Libre Baskerville"/>
                <a:sym typeface="Libre Baskerville"/>
              </a:rPr>
              <a:t>Each user </a:t>
            </a:r>
            <a:r>
              <a:rPr lang="en-US" sz="2400" dirty="0" smtClean="0"/>
              <a:t>has </a:t>
            </a:r>
            <a:r>
              <a:rPr lang="en-US" sz="2400" dirty="0"/>
              <a:t>a</a:t>
            </a:r>
            <a:r>
              <a:rPr lang="en-US" sz="2400" b="0" i="0" u="none" strike="noStrike" cap="none" baseline="0" dirty="0" smtClean="0">
                <a:ea typeface="Libre Baskerville"/>
                <a:cs typeface="Libre Baskerville"/>
                <a:sym typeface="Libre Baskerville"/>
              </a:rPr>
              <a:t> public</a:t>
            </a:r>
            <a:r>
              <a:rPr lang="en-US" sz="2400" b="0" i="0" u="none" strike="noStrike" cap="none" dirty="0" smtClean="0">
                <a:ea typeface="Libre Baskerville"/>
                <a:cs typeface="Libre Baskerville"/>
                <a:sym typeface="Libre Baskerville"/>
              </a:rPr>
              <a:t> and a private key.</a:t>
            </a:r>
          </a:p>
          <a:p>
            <a:pPr>
              <a:lnSpc>
                <a:spcPct val="100000"/>
              </a:lnSpc>
              <a:spcBef>
                <a:spcPts val="0"/>
              </a:spcBef>
              <a:buSzPct val="70000"/>
              <a:buFont typeface="Calibri" panose="020F0502020204030204" pitchFamily="34" charset="0"/>
              <a:buChar char="•"/>
            </a:pPr>
            <a:endParaRPr lang="en-US" sz="2400" b="0" i="0" u="none" strike="noStrike" cap="none" dirty="0" smtClean="0">
              <a:ea typeface="Libre Baskerville"/>
              <a:cs typeface="Libre Baskerville"/>
              <a:sym typeface="Libre Baskerville"/>
            </a:endParaRPr>
          </a:p>
          <a:p>
            <a:pPr>
              <a:lnSpc>
                <a:spcPct val="100000"/>
              </a:lnSpc>
              <a:spcBef>
                <a:spcPts val="0"/>
              </a:spcBef>
              <a:buSzPct val="70000"/>
              <a:buFont typeface="Calibri" panose="020F0502020204030204" pitchFamily="34" charset="0"/>
              <a:buChar char="•"/>
            </a:pPr>
            <a:r>
              <a:rPr lang="en-US" sz="2400" baseline="0" dirty="0" smtClean="0"/>
              <a:t>Public</a:t>
            </a:r>
            <a:r>
              <a:rPr lang="en-US" sz="2400" dirty="0" smtClean="0"/>
              <a:t> keys are published. </a:t>
            </a:r>
          </a:p>
          <a:p>
            <a:pPr>
              <a:lnSpc>
                <a:spcPct val="100000"/>
              </a:lnSpc>
              <a:spcBef>
                <a:spcPts val="0"/>
              </a:spcBef>
              <a:buSzPct val="70000"/>
              <a:buFont typeface="Calibri" panose="020F0502020204030204" pitchFamily="34" charset="0"/>
              <a:buChar char="•"/>
            </a:pPr>
            <a:endParaRPr lang="en-US" sz="2400" dirty="0" smtClean="0"/>
          </a:p>
          <a:p>
            <a:pPr>
              <a:lnSpc>
                <a:spcPct val="100000"/>
              </a:lnSpc>
              <a:spcBef>
                <a:spcPts val="0"/>
              </a:spcBef>
              <a:buSzPct val="70000"/>
              <a:buFont typeface="Calibri" panose="020F0502020204030204" pitchFamily="34" charset="0"/>
              <a:buChar char="•"/>
            </a:pPr>
            <a:r>
              <a:rPr lang="en-US" sz="2400" b="0" i="0" u="none" strike="noStrike" cap="none" baseline="0" dirty="0" smtClean="0">
                <a:ea typeface="Libre Baskerville"/>
                <a:cs typeface="Libre Baskerville"/>
                <a:sym typeface="Libre Baskerville"/>
              </a:rPr>
              <a:t>Privat</a:t>
            </a:r>
            <a:r>
              <a:rPr lang="en-US" sz="2400" b="0" i="0" u="none" strike="noStrike" cap="none" dirty="0" smtClean="0">
                <a:ea typeface="Libre Baskerville"/>
                <a:cs typeface="Libre Baskerville"/>
                <a:sym typeface="Libre Baskerville"/>
              </a:rPr>
              <a:t>e keys are secret. (Only </a:t>
            </a:r>
            <a:r>
              <a:rPr lang="en-US" sz="2400" b="1" i="0" u="none" strike="noStrike" cap="none" dirty="0" smtClean="0">
                <a:ea typeface="Libre Baskerville"/>
                <a:cs typeface="Libre Baskerville"/>
                <a:sym typeface="Libre Baskerville"/>
              </a:rPr>
              <a:t>one</a:t>
            </a:r>
            <a:r>
              <a:rPr lang="en-US" sz="2400" b="0" i="0" u="none" strike="noStrike" cap="none" dirty="0" smtClean="0">
                <a:ea typeface="Libre Baskerville"/>
                <a:cs typeface="Libre Baskerville"/>
                <a:sym typeface="Libre Baskerville"/>
              </a:rPr>
              <a:t> party, the owner, knows the private key, </a:t>
            </a:r>
            <a:r>
              <a:rPr lang="en-US" sz="2400" b="1" i="0" u="none" strike="noStrike" cap="none" dirty="0" smtClean="0">
                <a:ea typeface="Libre Baskerville"/>
                <a:cs typeface="Libre Baskerville"/>
                <a:sym typeface="Libre Baskerville"/>
              </a:rPr>
              <a:t>NOT</a:t>
            </a:r>
            <a:r>
              <a:rPr lang="en-US" sz="2400" b="0" i="0" u="none" strike="noStrike" cap="none" dirty="0" smtClean="0">
                <a:ea typeface="Libre Baskerville"/>
                <a:cs typeface="Libre Baskerville"/>
                <a:sym typeface="Libre Baskerville"/>
              </a:rPr>
              <a:t> both parties!)</a:t>
            </a:r>
          </a:p>
          <a:p>
            <a:pPr marL="0" marR="0" lvl="0" indent="0" algn="l" rtl="0">
              <a:lnSpc>
                <a:spcPct val="100000"/>
              </a:lnSpc>
              <a:spcBef>
                <a:spcPts val="0"/>
              </a:spcBef>
              <a:spcAft>
                <a:spcPts val="0"/>
              </a:spcAft>
              <a:buClr>
                <a:schemeClr val="accent1"/>
              </a:buClr>
              <a:buSzPct val="70000"/>
              <a:buNone/>
            </a:pPr>
            <a:endParaRPr lang="en-US" dirty="0" smtClean="0"/>
          </a:p>
          <a:p>
            <a:pPr marL="273050" marR="0" lvl="0" indent="-273050" algn="l" rtl="0">
              <a:lnSpc>
                <a:spcPct val="100000"/>
              </a:lnSpc>
              <a:spcBef>
                <a:spcPts val="0"/>
              </a:spcBef>
              <a:spcAft>
                <a:spcPts val="0"/>
              </a:spcAft>
              <a:buClr>
                <a:schemeClr val="accent1"/>
              </a:buClr>
              <a:buSzPct val="70000"/>
              <a:buFont typeface="Noto Symbol"/>
              <a:buChar char="•"/>
            </a:pPr>
            <a:endParaRPr lang="en-US" sz="2400" b="0" i="0" u="none" strike="noStrike" cap="none" baseline="0" dirty="0" smtClean="0">
              <a:solidFill>
                <a:schemeClr val="dk1"/>
              </a:solidFill>
              <a:latin typeface="Libre Baskerville"/>
              <a:ea typeface="Libre Baskerville"/>
              <a:cs typeface="Libre Baskerville"/>
              <a:sym typeface="Libre Baskerville"/>
            </a:endParaRPr>
          </a:p>
          <a:p>
            <a:pPr marL="0" marR="0" lvl="0" indent="0" algn="l" rtl="0">
              <a:spcBef>
                <a:spcPts val="0"/>
              </a:spcBef>
              <a:buNone/>
            </a:pPr>
            <a:endParaRPr sz="2100" b="0" i="0" u="none" strike="noStrike" cap="none" baseline="0" dirty="0">
              <a:solidFill>
                <a:schemeClr val="dk1"/>
              </a:solidFill>
              <a:latin typeface="Libre Baskerville"/>
              <a:ea typeface="Libre Baskerville"/>
              <a:cs typeface="Libre Baskerville"/>
              <a:sym typeface="Libre Baskerville"/>
            </a:endParaRPr>
          </a:p>
        </p:txBody>
      </p:sp>
    </p:spTree>
  </p:cSld>
  <p:clrMapOvr>
    <a:masterClrMapping/>
  </p:clrMapOvr>
  <p:transition spd="slow">
    <p:cu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Solutions for Key Distribution</a:t>
            </a:r>
            <a:endParaRPr lang="en-US" dirty="0"/>
          </a:p>
        </p:txBody>
      </p:sp>
      <p:sp>
        <p:nvSpPr>
          <p:cNvPr id="3" name="Text Placeholder 2"/>
          <p:cNvSpPr>
            <a:spLocks noGrp="1"/>
          </p:cNvSpPr>
          <p:nvPr>
            <p:ph idx="1"/>
          </p:nvPr>
        </p:nvSpPr>
        <p:spPr/>
        <p:txBody>
          <a:bodyPr/>
          <a:lstStyle/>
          <a:p>
            <a:pPr marL="457200" indent="-342900">
              <a:buFont typeface="+mj-lt"/>
              <a:buAutoNum type="arabicPeriod"/>
              <a:tabLst>
                <a:tab pos="457200" algn="l"/>
              </a:tabLst>
            </a:pPr>
            <a:r>
              <a:rPr lang="en-US" sz="2400" dirty="0" smtClean="0"/>
              <a:t>Public Key Encryption: </a:t>
            </a:r>
          </a:p>
          <a:p>
            <a:pPr marL="462281" lvl="1" indent="0">
              <a:buNone/>
            </a:pPr>
            <a:r>
              <a:rPr lang="en-US" sz="2400" dirty="0" smtClean="0"/>
              <a:t>Encrypt the shared secret key for symmetric ciphers using asymmetric (public key) encryption and send over the (not secure) channel.</a:t>
            </a:r>
          </a:p>
          <a:p>
            <a:pPr marL="462281" lvl="1" indent="0">
              <a:buNone/>
            </a:pPr>
            <a:endParaRPr lang="en-US" sz="2400" dirty="0" smtClean="0"/>
          </a:p>
          <a:p>
            <a:pPr marL="457200" indent="-350838">
              <a:buFont typeface="+mj-lt"/>
              <a:buAutoNum type="arabicPeriod"/>
            </a:pPr>
            <a:r>
              <a:rPr lang="en-US" sz="2400" dirty="0" smtClean="0"/>
              <a:t>Key Agreement Algorithms:</a:t>
            </a:r>
          </a:p>
          <a:p>
            <a:pPr marL="462281" lvl="1" indent="0">
              <a:buNone/>
            </a:pPr>
            <a:r>
              <a:rPr lang="en-US" sz="2400" dirty="0" smtClean="0"/>
              <a:t>Use public and private keys to agree on a key without exchanging any private information.</a:t>
            </a:r>
          </a:p>
          <a:p>
            <a:endParaRPr lang="en-US" dirty="0"/>
          </a:p>
        </p:txBody>
      </p:sp>
    </p:spTree>
    <p:extLst>
      <p:ext uri="{BB962C8B-B14F-4D97-AF65-F5344CB8AC3E}">
        <p14:creationId xmlns:p14="http://schemas.microsoft.com/office/powerpoint/2010/main" val="147297324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85800" y="457200"/>
            <a:ext cx="8153400" cy="944563"/>
          </a:xfrm>
        </p:spPr>
        <p:txBody>
          <a:bodyPr/>
          <a:lstStyle/>
          <a:p>
            <a:r>
              <a:rPr lang="en-US" dirty="0" smtClean="0"/>
              <a:t>1. Asymmetric Encryption/Decryption </a:t>
            </a:r>
            <a:endParaRPr lang="en-US" dirty="0"/>
          </a:p>
        </p:txBody>
      </p:sp>
      <p:sp>
        <p:nvSpPr>
          <p:cNvPr id="6" name="Text Placeholder 5"/>
          <p:cNvSpPr>
            <a:spLocks noGrp="1"/>
          </p:cNvSpPr>
          <p:nvPr>
            <p:ph idx="1"/>
          </p:nvPr>
        </p:nvSpPr>
        <p:spPr>
          <a:xfrm>
            <a:off x="609600" y="1752600"/>
            <a:ext cx="7467600" cy="4873751"/>
          </a:xfrm>
        </p:spPr>
        <p:txBody>
          <a:bodyPr/>
          <a:lstStyle/>
          <a:p>
            <a:pPr marL="241300" lvl="0" indent="-241300">
              <a:spcBef>
                <a:spcPts val="0"/>
              </a:spcBef>
              <a:buSzPct val="70000"/>
              <a:buFont typeface="Calibri" panose="020F0502020204030204" pitchFamily="34" charset="0"/>
              <a:buChar char="•"/>
            </a:pPr>
            <a:r>
              <a:rPr lang="en-US" sz="2400" dirty="0"/>
              <a:t>If Alice </a:t>
            </a:r>
            <a:r>
              <a:rPr lang="en-US" sz="2400" dirty="0" smtClean="0"/>
              <a:t>wants to </a:t>
            </a:r>
            <a:r>
              <a:rPr lang="en-US" sz="2400" dirty="0"/>
              <a:t>send </a:t>
            </a:r>
            <a:r>
              <a:rPr lang="en-US" sz="2400" dirty="0" smtClean="0"/>
              <a:t>Bob a </a:t>
            </a:r>
            <a:r>
              <a:rPr lang="en-US" sz="2400" dirty="0"/>
              <a:t>confidential </a:t>
            </a:r>
            <a:r>
              <a:rPr lang="en-US" sz="2400" dirty="0" smtClean="0"/>
              <a:t>message, </a:t>
            </a:r>
            <a:r>
              <a:rPr lang="en-US" sz="2400" dirty="0"/>
              <a:t>she gets </a:t>
            </a:r>
            <a:r>
              <a:rPr lang="en-US" sz="2400" b="1" dirty="0"/>
              <a:t>Bob’s</a:t>
            </a:r>
            <a:r>
              <a:rPr lang="en-US" sz="2400" dirty="0"/>
              <a:t> public key.</a:t>
            </a:r>
          </a:p>
          <a:p>
            <a:pPr marL="241300" lvl="0" indent="-241300">
              <a:spcBef>
                <a:spcPts val="0"/>
              </a:spcBef>
              <a:buSzPct val="70000"/>
              <a:buFont typeface="Calibri" panose="020F0502020204030204" pitchFamily="34" charset="0"/>
              <a:buChar char="•"/>
            </a:pPr>
            <a:endParaRPr lang="en-US" sz="2400" dirty="0"/>
          </a:p>
          <a:p>
            <a:pPr marL="241300" lvl="0" indent="-241300">
              <a:spcBef>
                <a:spcPts val="0"/>
              </a:spcBef>
              <a:buSzPct val="70000"/>
              <a:buFont typeface="Calibri" panose="020F0502020204030204" pitchFamily="34" charset="0"/>
              <a:buChar char="•"/>
            </a:pPr>
            <a:r>
              <a:rPr lang="en-US" sz="2400" dirty="0" smtClean="0"/>
              <a:t>She encrypts </a:t>
            </a:r>
            <a:r>
              <a:rPr lang="en-US" sz="2400" dirty="0"/>
              <a:t>her message to Bob using </a:t>
            </a:r>
            <a:r>
              <a:rPr lang="en-US" sz="2400" b="1" dirty="0"/>
              <a:t>Bob</a:t>
            </a:r>
            <a:r>
              <a:rPr lang="en-US" sz="2400" dirty="0"/>
              <a:t>’s public key and sends it to Bob </a:t>
            </a:r>
            <a:r>
              <a:rPr lang="en-US" sz="2400" dirty="0" smtClean="0"/>
              <a:t>(possibly </a:t>
            </a:r>
            <a:r>
              <a:rPr lang="en-US" sz="2400" dirty="0"/>
              <a:t>over the Internet</a:t>
            </a:r>
            <a:r>
              <a:rPr lang="en-US" sz="2400" dirty="0" smtClean="0"/>
              <a:t>).</a:t>
            </a:r>
          </a:p>
          <a:p>
            <a:pPr marL="241300" lvl="0" indent="-241300">
              <a:spcBef>
                <a:spcPts val="0"/>
              </a:spcBef>
              <a:buSzPct val="70000"/>
              <a:buFont typeface="Calibri" panose="020F0502020204030204" pitchFamily="34" charset="0"/>
              <a:buChar char="•"/>
            </a:pPr>
            <a:endParaRPr lang="en-US" sz="2400" dirty="0"/>
          </a:p>
          <a:p>
            <a:pPr marL="241300" lvl="0" indent="-241300">
              <a:spcBef>
                <a:spcPts val="0"/>
              </a:spcBef>
              <a:buSzPct val="70000"/>
              <a:buFont typeface="Calibri" panose="020F0502020204030204" pitchFamily="34" charset="0"/>
              <a:buChar char="•"/>
            </a:pPr>
            <a:r>
              <a:rPr lang="en-US" sz="2400" dirty="0" smtClean="0"/>
              <a:t>Bob, upon receipt of the encrypted message from Alice,  uses </a:t>
            </a:r>
            <a:r>
              <a:rPr lang="en-US" sz="2400" b="1" dirty="0" smtClean="0"/>
              <a:t>his</a:t>
            </a:r>
            <a:r>
              <a:rPr lang="en-US" sz="2400" dirty="0" smtClean="0"/>
              <a:t> private key to decrypt the message.</a:t>
            </a:r>
          </a:p>
          <a:p>
            <a:pPr marL="241300" lvl="0" indent="-241300">
              <a:spcBef>
                <a:spcPts val="0"/>
              </a:spcBef>
              <a:buSzPct val="70000"/>
              <a:buFont typeface="Calibri" panose="020F0502020204030204" pitchFamily="34" charset="0"/>
              <a:buChar char="•"/>
            </a:pPr>
            <a:endParaRPr lang="en-US" sz="2400" dirty="0" smtClean="0"/>
          </a:p>
          <a:p>
            <a:pPr marL="241300" lvl="0" indent="-241300">
              <a:spcBef>
                <a:spcPts val="0"/>
              </a:spcBef>
              <a:buSzPct val="70000"/>
              <a:buFont typeface="Calibri" panose="020F0502020204030204" pitchFamily="34" charset="0"/>
              <a:buChar char="•"/>
            </a:pPr>
            <a:r>
              <a:rPr lang="en-US" sz="2400" dirty="0" smtClean="0"/>
              <a:t>Because only Bob knows his private key, only he can decrypt the message and read it!</a:t>
            </a:r>
          </a:p>
          <a:p>
            <a:pPr lvl="0" indent="-273050">
              <a:spcBef>
                <a:spcPts val="0"/>
              </a:spcBef>
              <a:buSzPct val="70000"/>
            </a:pPr>
            <a:endParaRPr lang="en-US" dirty="0"/>
          </a:p>
          <a:p>
            <a:endParaRPr lang="en-US" dirty="0"/>
          </a:p>
        </p:txBody>
      </p:sp>
    </p:spTree>
    <p:extLst>
      <p:ext uri="{BB962C8B-B14F-4D97-AF65-F5344CB8AC3E}">
        <p14:creationId xmlns:p14="http://schemas.microsoft.com/office/powerpoint/2010/main" val="350617445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Shape 107"/>
          <p:cNvSpPr txBox="1">
            <a:spLocks noGrp="1"/>
          </p:cNvSpPr>
          <p:nvPr>
            <p:ph type="title"/>
          </p:nvPr>
        </p:nvSpPr>
        <p:spPr>
          <a:xfrm>
            <a:off x="838200" y="0"/>
            <a:ext cx="8074080" cy="1143000"/>
          </a:xfrm>
          <a:prstGeom prst="rect">
            <a:avLst/>
          </a:prstGeom>
          <a:noFill/>
          <a:ln>
            <a:noFill/>
          </a:ln>
        </p:spPr>
        <p:txBody>
          <a:bodyPr lIns="91425" tIns="45700" rIns="91425" bIns="45700" anchor="b" anchorCtr="0">
            <a:noAutofit/>
          </a:bodyPr>
          <a:lstStyle/>
          <a:p>
            <a:pPr marL="0" marR="0" lvl="0" indent="0" rtl="0">
              <a:lnSpc>
                <a:spcPct val="100000"/>
              </a:lnSpc>
              <a:spcBef>
                <a:spcPts val="0"/>
              </a:spcBef>
              <a:spcAft>
                <a:spcPts val="0"/>
              </a:spcAft>
              <a:buClr>
                <a:schemeClr val="dk2"/>
              </a:buClr>
              <a:buSzPct val="25000"/>
              <a:buFont typeface="Libre Baskerville"/>
              <a:buNone/>
            </a:pPr>
            <a:r>
              <a:rPr lang="en-US" b="0" i="0" u="none" strike="noStrike" dirty="0" smtClean="0">
                <a:ea typeface="Libre Baskerville"/>
                <a:cs typeface="Libre Baskerville"/>
                <a:sym typeface="Libre Baskerville"/>
              </a:rPr>
              <a:t>Asymmetric Encryption </a:t>
            </a:r>
            <a:endParaRPr lang="en-US" b="0" i="0" u="none" strike="noStrike" dirty="0">
              <a:ea typeface="Libre Baskerville"/>
              <a:cs typeface="Libre Baskerville"/>
              <a:sym typeface="Libre Baskerville"/>
            </a:endParaRPr>
          </a:p>
        </p:txBody>
      </p:sp>
      <p:sp>
        <p:nvSpPr>
          <p:cNvPr id="2" name="TextBox 1"/>
          <p:cNvSpPr txBox="1"/>
          <p:nvPr/>
        </p:nvSpPr>
        <p:spPr>
          <a:xfrm>
            <a:off x="914400" y="4724400"/>
            <a:ext cx="7239000" cy="646331"/>
          </a:xfrm>
          <a:prstGeom prst="rect">
            <a:avLst/>
          </a:prstGeom>
          <a:noFill/>
        </p:spPr>
        <p:txBody>
          <a:bodyPr wrap="square" rtlCol="0">
            <a:spAutoFit/>
          </a:bodyPr>
          <a:lstStyle/>
          <a:p>
            <a:r>
              <a:rPr lang="en-US" sz="1800" dirty="0" smtClean="0">
                <a:latin typeface="+mn-lt"/>
              </a:rPr>
              <a:t>Note that no communication is necessary beforehand to agree on a shared secret key.  </a:t>
            </a:r>
            <a:endParaRPr lang="en-US" sz="1800" dirty="0">
              <a:latin typeface="+mn-lt"/>
            </a:endParaRPr>
          </a:p>
        </p:txBody>
      </p:sp>
      <p:grpSp>
        <p:nvGrpSpPr>
          <p:cNvPr id="3" name="Group 2"/>
          <p:cNvGrpSpPr/>
          <p:nvPr/>
        </p:nvGrpSpPr>
        <p:grpSpPr>
          <a:xfrm>
            <a:off x="838200" y="1524000"/>
            <a:ext cx="7616881" cy="2900820"/>
            <a:chOff x="457199" y="2362200"/>
            <a:chExt cx="7616881" cy="290082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199" y="2362200"/>
              <a:ext cx="7616881" cy="2504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2514600" y="5032188"/>
              <a:ext cx="4343400" cy="230832"/>
            </a:xfrm>
            <a:prstGeom prst="rect">
              <a:avLst/>
            </a:prstGeom>
            <a:noFill/>
          </p:spPr>
          <p:txBody>
            <a:bodyPr wrap="square" rtlCol="0">
              <a:spAutoFit/>
            </a:bodyPr>
            <a:lstStyle/>
            <a:p>
              <a:r>
                <a:rPr lang="en-US" sz="900" dirty="0" smtClean="0"/>
                <a:t>“Asymmetric Encryption" </a:t>
              </a:r>
              <a:r>
                <a:rPr lang="en-US" sz="900" dirty="0"/>
                <a:t>by Yesem Kurt-</a:t>
              </a:r>
              <a:r>
                <a:rPr lang="en-US" sz="900" dirty="0" err="1"/>
                <a:t>Peker</a:t>
              </a:r>
              <a:r>
                <a:rPr lang="en-US" sz="900" dirty="0"/>
                <a:t> licensed under </a:t>
              </a:r>
              <a:r>
                <a:rPr lang="en-US" sz="900" dirty="0">
                  <a:hlinkClick r:id="rId4"/>
                </a:rPr>
                <a:t>CC BY 4.0 </a:t>
              </a:r>
              <a:endParaRPr lang="en-US" sz="900" dirty="0"/>
            </a:p>
          </p:txBody>
        </p:sp>
      </p:grpSp>
    </p:spTree>
  </p:cSld>
  <p:clrMapOvr>
    <a:masterClrMapping/>
  </p:clrMapOvr>
  <p:transition spd="slow">
    <p:cu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04800"/>
            <a:ext cx="8305800" cy="1143000"/>
          </a:xfrm>
        </p:spPr>
        <p:txBody>
          <a:bodyPr/>
          <a:lstStyle/>
          <a:p>
            <a:r>
              <a:rPr lang="en-US" dirty="0" smtClean="0"/>
              <a:t>Advantage of Asymmetric Encryption</a:t>
            </a:r>
            <a:endParaRPr lang="en-US" dirty="0"/>
          </a:p>
        </p:txBody>
      </p:sp>
      <p:sp>
        <p:nvSpPr>
          <p:cNvPr id="3" name="Text Placeholder 2"/>
          <p:cNvSpPr>
            <a:spLocks noGrp="1"/>
          </p:cNvSpPr>
          <p:nvPr>
            <p:ph idx="1"/>
          </p:nvPr>
        </p:nvSpPr>
        <p:spPr/>
        <p:txBody>
          <a:bodyPr/>
          <a:lstStyle/>
          <a:p>
            <a:r>
              <a:rPr lang="en-US" sz="2400" dirty="0" smtClean="0"/>
              <a:t>With asymmetric encryption, users do not have to share a secret value that they have to communicate or agree on beforehand or over a public channel.</a:t>
            </a:r>
          </a:p>
          <a:p>
            <a:endParaRPr lang="en-US" sz="2400" dirty="0" smtClean="0"/>
          </a:p>
          <a:p>
            <a:r>
              <a:rPr lang="en-US" sz="2400" dirty="0" smtClean="0"/>
              <a:t>Public keys are published and available to everyone in the system.</a:t>
            </a:r>
          </a:p>
          <a:p>
            <a:endParaRPr lang="en-US" sz="2400" dirty="0" smtClean="0"/>
          </a:p>
          <a:p>
            <a:r>
              <a:rPr lang="en-US" sz="2400" b="1" dirty="0" smtClean="0"/>
              <a:t>NOTE: </a:t>
            </a:r>
            <a:r>
              <a:rPr lang="en-US" sz="2400" dirty="0" smtClean="0"/>
              <a:t>Private keys should NOT be shared!</a:t>
            </a:r>
            <a:endParaRPr lang="en-US" sz="2400" dirty="0"/>
          </a:p>
        </p:txBody>
      </p:sp>
    </p:spTree>
    <p:extLst>
      <p:ext uri="{BB962C8B-B14F-4D97-AF65-F5344CB8AC3E}">
        <p14:creationId xmlns:p14="http://schemas.microsoft.com/office/powerpoint/2010/main" val="109395030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685800"/>
            <a:ext cx="7696200" cy="1143000"/>
          </a:xfrm>
        </p:spPr>
        <p:txBody>
          <a:bodyPr>
            <a:normAutofit/>
          </a:bodyPr>
          <a:lstStyle/>
          <a:p>
            <a:r>
              <a:rPr lang="en-US" dirty="0" smtClean="0"/>
              <a:t>Examples of Asymmetric Encryption Algorithms</a:t>
            </a:r>
            <a:endParaRPr lang="en-US" dirty="0"/>
          </a:p>
        </p:txBody>
      </p:sp>
      <p:sp>
        <p:nvSpPr>
          <p:cNvPr id="3" name="Text Placeholder 2"/>
          <p:cNvSpPr>
            <a:spLocks noGrp="1"/>
          </p:cNvSpPr>
          <p:nvPr>
            <p:ph idx="1"/>
          </p:nvPr>
        </p:nvSpPr>
        <p:spPr>
          <a:xfrm>
            <a:off x="914400" y="1905000"/>
            <a:ext cx="7848600" cy="4333874"/>
          </a:xfrm>
        </p:spPr>
        <p:txBody>
          <a:bodyPr/>
          <a:lstStyle/>
          <a:p>
            <a:r>
              <a:rPr lang="en-US" sz="2400" dirty="0" smtClean="0"/>
              <a:t>RSA Encryption </a:t>
            </a:r>
          </a:p>
          <a:p>
            <a:pPr lvl="1"/>
            <a:r>
              <a:rPr lang="en-US" sz="2400" dirty="0"/>
              <a:t>D</a:t>
            </a:r>
            <a:r>
              <a:rPr lang="en-US" sz="2400" dirty="0" smtClean="0"/>
              <a:t>eveloped by </a:t>
            </a:r>
            <a:r>
              <a:rPr lang="en-US" sz="2400" dirty="0" err="1" smtClean="0"/>
              <a:t>Rivest</a:t>
            </a:r>
            <a:r>
              <a:rPr lang="en-US" sz="2400" dirty="0" smtClean="0"/>
              <a:t>, Shamir, </a:t>
            </a:r>
            <a:r>
              <a:rPr lang="en-US" sz="2400" dirty="0" err="1" smtClean="0"/>
              <a:t>Adleman</a:t>
            </a:r>
            <a:r>
              <a:rPr lang="en-US" sz="2400" dirty="0" smtClean="0"/>
              <a:t> (scientists at Berkley) in 1976</a:t>
            </a:r>
          </a:p>
          <a:p>
            <a:pPr lvl="1"/>
            <a:r>
              <a:rPr lang="en-US" sz="2400" dirty="0" smtClean="0"/>
              <a:t>Included in the cipher suite for key agreement/exchange in </a:t>
            </a:r>
            <a:r>
              <a:rPr lang="en-US" sz="2400" dirty="0"/>
              <a:t>TLS/SSL (Transport </a:t>
            </a:r>
            <a:r>
              <a:rPr lang="en-US" sz="2400" dirty="0" smtClean="0"/>
              <a:t>Layer </a:t>
            </a:r>
            <a:r>
              <a:rPr lang="en-US" sz="2400" dirty="0"/>
              <a:t>Security/Secure Socket Layer</a:t>
            </a:r>
            <a:r>
              <a:rPr lang="en-US" sz="2400" dirty="0" smtClean="0"/>
              <a:t>)</a:t>
            </a:r>
          </a:p>
          <a:p>
            <a:r>
              <a:rPr lang="en-US" sz="2400" dirty="0" smtClean="0"/>
              <a:t>Elliptic Curve Encryption</a:t>
            </a:r>
          </a:p>
          <a:p>
            <a:pPr lvl="1"/>
            <a:r>
              <a:rPr lang="en-US" sz="2400" dirty="0" smtClean="0"/>
              <a:t>Suggested independently by N. </a:t>
            </a:r>
            <a:r>
              <a:rPr lang="en-US" sz="2400" dirty="0" err="1" smtClean="0"/>
              <a:t>Koblitz</a:t>
            </a:r>
            <a:r>
              <a:rPr lang="en-US" sz="2400" dirty="0" smtClean="0"/>
              <a:t> and V. Miller in 1985</a:t>
            </a:r>
          </a:p>
          <a:p>
            <a:pPr lvl="1"/>
            <a:r>
              <a:rPr lang="en-US" sz="2400" dirty="0" smtClean="0"/>
              <a:t>Included in the cipher suite for key agreement / exchange in TLS/SSL (</a:t>
            </a:r>
            <a:r>
              <a:rPr lang="en-US" sz="2400" dirty="0" smtClean="0">
                <a:hlinkClick r:id="rId3"/>
              </a:rPr>
              <a:t>https://en.wikipedia.org/wiki/Cipher_suite</a:t>
            </a:r>
            <a:r>
              <a:rPr lang="en-US" sz="2400" dirty="0" smtClean="0"/>
              <a:t>)</a:t>
            </a:r>
          </a:p>
          <a:p>
            <a:pPr lvl="1"/>
            <a:r>
              <a:rPr lang="en-US" sz="2400" dirty="0" smtClean="0"/>
              <a:t>Also included in Bluetooth Low Energy (LE) protocols</a:t>
            </a:r>
          </a:p>
          <a:p>
            <a:pPr lvl="1"/>
            <a:endParaRPr lang="en-US" dirty="0" smtClean="0"/>
          </a:p>
          <a:p>
            <a:pPr lvl="1"/>
            <a:endParaRPr lang="en-US" dirty="0" smtClean="0"/>
          </a:p>
          <a:p>
            <a:endParaRPr lang="en-US" dirty="0" smtClean="0"/>
          </a:p>
          <a:p>
            <a:pPr marL="0" indent="0">
              <a:buNone/>
            </a:pPr>
            <a:endParaRPr lang="en-US" dirty="0"/>
          </a:p>
        </p:txBody>
      </p:sp>
    </p:spTree>
    <p:extLst>
      <p:ext uri="{BB962C8B-B14F-4D97-AF65-F5344CB8AC3E}">
        <p14:creationId xmlns:p14="http://schemas.microsoft.com/office/powerpoint/2010/main" val="151810949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09600"/>
            <a:ext cx="7467600" cy="715963"/>
          </a:xfrm>
        </p:spPr>
        <p:txBody>
          <a:bodyPr/>
          <a:lstStyle/>
          <a:p>
            <a:r>
              <a:rPr lang="en-US" dirty="0" smtClean="0"/>
              <a:t>A Glimpse of the RSA Encryption</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idx="1"/>
              </p:nvPr>
            </p:nvSpPr>
            <p:spPr>
              <a:xfrm>
                <a:off x="876300" y="1600200"/>
                <a:ext cx="7429500" cy="4876800"/>
              </a:xfrm>
            </p:spPr>
            <p:txBody>
              <a:bodyPr/>
              <a:lstStyle/>
              <a:p>
                <a:pPr>
                  <a:buFontTx/>
                  <a:buChar char="•"/>
                </a:pPr>
                <a:r>
                  <a:rPr lang="en-US" sz="2000" b="1" dirty="0" smtClean="0"/>
                  <a:t>Key generation by Bob:</a:t>
                </a:r>
              </a:p>
              <a:p>
                <a:pPr lvl="1">
                  <a:buFontTx/>
                  <a:buChar char="•"/>
                </a:pPr>
                <a:r>
                  <a:rPr lang="en-US" sz="1800" dirty="0" smtClean="0"/>
                  <a:t>Select </a:t>
                </a:r>
                <a14:m>
                  <m:oMath xmlns:m="http://schemas.openxmlformats.org/officeDocument/2006/math">
                    <m:r>
                      <a:rPr lang="en-US" sz="1800" i="1" dirty="0" smtClean="0">
                        <a:latin typeface="Cambria Math"/>
                      </a:rPr>
                      <m:t>𝑝</m:t>
                    </m:r>
                    <m:r>
                      <a:rPr lang="en-US" sz="1800" i="1" dirty="0" smtClean="0">
                        <a:latin typeface="Cambria Math"/>
                      </a:rPr>
                      <m:t>,</m:t>
                    </m:r>
                    <m:r>
                      <a:rPr lang="en-US" sz="1800" i="1" dirty="0" smtClean="0">
                        <a:latin typeface="Cambria Math"/>
                      </a:rPr>
                      <m:t>𝑞</m:t>
                    </m:r>
                  </m:oMath>
                </a14:m>
                <a:r>
                  <a:rPr lang="en-US" sz="1800" dirty="0" smtClean="0"/>
                  <a:t>	</a:t>
                </a:r>
                <a14:m>
                  <m:oMath xmlns:m="http://schemas.openxmlformats.org/officeDocument/2006/math">
                    <m:r>
                      <a:rPr lang="en-US" sz="1800" i="1" dirty="0" smtClean="0">
                        <a:latin typeface="Cambria Math"/>
                      </a:rPr>
                      <m:t>𝑝</m:t>
                    </m:r>
                  </m:oMath>
                </a14:m>
                <a:r>
                  <a:rPr lang="en-US" sz="1800" dirty="0" smtClean="0"/>
                  <a:t> and </a:t>
                </a:r>
                <a14:m>
                  <m:oMath xmlns:m="http://schemas.openxmlformats.org/officeDocument/2006/math">
                    <m:r>
                      <a:rPr lang="en-US" sz="1800" i="1" dirty="0" smtClean="0">
                        <a:latin typeface="Cambria Math"/>
                      </a:rPr>
                      <m:t>𝑞</m:t>
                    </m:r>
                  </m:oMath>
                </a14:m>
                <a:r>
                  <a:rPr lang="en-US" sz="1800" dirty="0" smtClean="0"/>
                  <a:t> both prime, </a:t>
                </a:r>
                <a14:m>
                  <m:oMath xmlns:m="http://schemas.openxmlformats.org/officeDocument/2006/math">
                    <m:r>
                      <m:rPr>
                        <m:sty m:val="p"/>
                      </m:rPr>
                      <a:rPr lang="en-US" sz="1800" b="0" i="0" smtClean="0">
                        <a:latin typeface="Cambria Math"/>
                        <a:ea typeface="Cambria Math"/>
                      </a:rPr>
                      <m:t>p</m:t>
                    </m:r>
                    <m:r>
                      <a:rPr lang="en-US" sz="1800" i="1" smtClean="0">
                        <a:latin typeface="Cambria Math"/>
                        <a:ea typeface="Cambria Math"/>
                      </a:rPr>
                      <m:t>≠</m:t>
                    </m:r>
                  </m:oMath>
                </a14:m>
                <a:r>
                  <a:rPr lang="en-US" sz="1800" dirty="0" smtClean="0"/>
                  <a:t>q</a:t>
                </a:r>
              </a:p>
              <a:p>
                <a:pPr lvl="1">
                  <a:buFontTx/>
                  <a:buChar char="•"/>
                </a:pPr>
                <a:r>
                  <a:rPr lang="en-US" sz="1800" dirty="0" smtClean="0"/>
                  <a:t>Calculate    </a:t>
                </a:r>
                <a14:m>
                  <m:oMath xmlns:m="http://schemas.openxmlformats.org/officeDocument/2006/math">
                    <m:r>
                      <a:rPr lang="en-US" sz="1800" i="1" dirty="0" smtClean="0">
                        <a:latin typeface="Cambria Math"/>
                      </a:rPr>
                      <m:t>𝑛</m:t>
                    </m:r>
                    <m:r>
                      <a:rPr lang="en-US" sz="1800" i="1" dirty="0" smtClean="0">
                        <a:latin typeface="Cambria Math"/>
                      </a:rPr>
                      <m:t>=</m:t>
                    </m:r>
                    <m:r>
                      <a:rPr lang="en-US" sz="1800" i="1" dirty="0" err="1" smtClean="0">
                        <a:latin typeface="Cambria Math"/>
                      </a:rPr>
                      <m:t>𝑝𝑥𝑞</m:t>
                    </m:r>
                  </m:oMath>
                </a14:m>
                <a:endParaRPr lang="en-US" sz="1800" dirty="0" smtClean="0"/>
              </a:p>
              <a:p>
                <a:pPr lvl="1">
                  <a:buFontTx/>
                  <a:buChar char="•"/>
                </a:pPr>
                <a:r>
                  <a:rPr lang="en-US" sz="1800" dirty="0" smtClean="0"/>
                  <a:t>Calculate </a:t>
                </a:r>
                <a14:m>
                  <m:oMath xmlns:m="http://schemas.openxmlformats.org/officeDocument/2006/math">
                    <m:r>
                      <a:rPr lang="en-US" sz="1800" i="1" smtClean="0">
                        <a:latin typeface="Cambria Math"/>
                        <a:ea typeface="Cambria Math"/>
                      </a:rPr>
                      <m:t>𝜑</m:t>
                    </m:r>
                    <m:d>
                      <m:dPr>
                        <m:ctrlPr>
                          <a:rPr lang="en-US" sz="1800" b="0" i="1" smtClean="0">
                            <a:latin typeface="Cambria Math" panose="02040503050406030204" pitchFamily="18" charset="0"/>
                            <a:ea typeface="Cambria Math"/>
                          </a:rPr>
                        </m:ctrlPr>
                      </m:dPr>
                      <m:e>
                        <m:r>
                          <a:rPr lang="en-US" sz="1800" b="0" i="1" smtClean="0">
                            <a:latin typeface="Cambria Math"/>
                            <a:ea typeface="Cambria Math"/>
                          </a:rPr>
                          <m:t>𝑛</m:t>
                        </m:r>
                      </m:e>
                    </m:d>
                    <m:r>
                      <a:rPr lang="en-US" sz="1800" b="0" i="1" smtClean="0">
                        <a:latin typeface="Cambria Math"/>
                        <a:ea typeface="Cambria Math"/>
                      </a:rPr>
                      <m:t>=</m:t>
                    </m:r>
                    <m:d>
                      <m:dPr>
                        <m:ctrlPr>
                          <a:rPr lang="en-US" sz="1800" b="0" i="1" smtClean="0">
                            <a:latin typeface="Cambria Math" panose="02040503050406030204" pitchFamily="18" charset="0"/>
                            <a:ea typeface="Cambria Math"/>
                          </a:rPr>
                        </m:ctrlPr>
                      </m:dPr>
                      <m:e>
                        <m:r>
                          <a:rPr lang="en-US" sz="1800" b="0" i="1" smtClean="0">
                            <a:latin typeface="Cambria Math"/>
                            <a:ea typeface="Cambria Math"/>
                          </a:rPr>
                          <m:t>𝑝</m:t>
                        </m:r>
                        <m:r>
                          <a:rPr lang="en-US" sz="1800" b="0" i="1" smtClean="0">
                            <a:latin typeface="Cambria Math"/>
                            <a:ea typeface="Cambria Math"/>
                          </a:rPr>
                          <m:t>−1</m:t>
                        </m:r>
                      </m:e>
                    </m:d>
                    <m:d>
                      <m:dPr>
                        <m:ctrlPr>
                          <a:rPr lang="en-US" sz="1800" b="0" i="1" smtClean="0">
                            <a:latin typeface="Cambria Math" panose="02040503050406030204" pitchFamily="18" charset="0"/>
                            <a:ea typeface="Cambria Math"/>
                          </a:rPr>
                        </m:ctrlPr>
                      </m:dPr>
                      <m:e>
                        <m:r>
                          <a:rPr lang="en-US" sz="1800" b="0" i="1" smtClean="0">
                            <a:latin typeface="Cambria Math"/>
                            <a:ea typeface="Cambria Math"/>
                          </a:rPr>
                          <m:t>𝑞</m:t>
                        </m:r>
                        <m:r>
                          <a:rPr lang="en-US" sz="1800" b="0" i="1" smtClean="0">
                            <a:latin typeface="Cambria Math"/>
                            <a:ea typeface="Cambria Math"/>
                          </a:rPr>
                          <m:t>−1</m:t>
                        </m:r>
                      </m:e>
                    </m:d>
                    <m:r>
                      <a:rPr lang="en-US" sz="1800" b="0" i="1" smtClean="0">
                        <a:latin typeface="Cambria Math"/>
                        <a:ea typeface="Cambria Math"/>
                      </a:rPr>
                      <m:t> </m:t>
                    </m:r>
                  </m:oMath>
                </a14:m>
                <a:r>
                  <a:rPr lang="en-US" sz="1800" dirty="0" smtClean="0"/>
                  <a:t> (Euler’s phi function)</a:t>
                </a:r>
              </a:p>
              <a:p>
                <a:pPr lvl="1">
                  <a:buFontTx/>
                  <a:buChar char="•"/>
                </a:pPr>
                <a:r>
                  <a:rPr lang="en-US" sz="1800" dirty="0" smtClean="0"/>
                  <a:t>Select </a:t>
                </a:r>
                <a14:m>
                  <m:oMath xmlns:m="http://schemas.openxmlformats.org/officeDocument/2006/math">
                    <m:r>
                      <a:rPr lang="en-US" sz="1800" i="1" dirty="0" smtClean="0">
                        <a:latin typeface="Cambria Math"/>
                      </a:rPr>
                      <m:t>𝑒</m:t>
                    </m:r>
                  </m:oMath>
                </a14:m>
                <a:r>
                  <a:rPr lang="en-US" sz="1800" dirty="0" smtClean="0"/>
                  <a:t>              </a:t>
                </a:r>
                <a14:m>
                  <m:oMath xmlns:m="http://schemas.openxmlformats.org/officeDocument/2006/math">
                    <m:r>
                      <a:rPr lang="en-US" sz="1800" i="1" dirty="0" smtClean="0">
                        <a:latin typeface="Cambria Math"/>
                      </a:rPr>
                      <m:t>1&lt;</m:t>
                    </m:r>
                    <m:r>
                      <a:rPr lang="en-US" sz="1800" i="1" dirty="0" smtClean="0">
                        <a:latin typeface="Cambria Math"/>
                      </a:rPr>
                      <m:t>𝑒</m:t>
                    </m:r>
                    <m:r>
                      <a:rPr lang="en-US" sz="1800" i="1" dirty="0" smtClean="0">
                        <a:latin typeface="Cambria Math"/>
                      </a:rPr>
                      <m:t> &lt;</m:t>
                    </m:r>
                    <m:r>
                      <a:rPr lang="en-US" sz="1800" i="1" dirty="0" smtClean="0">
                        <a:latin typeface="Cambria Math"/>
                        <a:ea typeface="Cambria Math"/>
                      </a:rPr>
                      <m:t>𝜑</m:t>
                    </m:r>
                    <m:d>
                      <m:dPr>
                        <m:ctrlPr>
                          <a:rPr lang="en-US" sz="1800" i="1" dirty="0" smtClean="0">
                            <a:latin typeface="Cambria Math" panose="02040503050406030204" pitchFamily="18" charset="0"/>
                            <a:ea typeface="Cambria Math"/>
                          </a:rPr>
                        </m:ctrlPr>
                      </m:dPr>
                      <m:e>
                        <m:r>
                          <a:rPr lang="en-US" sz="1800" i="1" dirty="0" smtClean="0">
                            <a:latin typeface="Cambria Math"/>
                          </a:rPr>
                          <m:t>𝑛</m:t>
                        </m:r>
                      </m:e>
                    </m:d>
                    <m:r>
                      <a:rPr lang="en-US" sz="1800" i="1" dirty="0" smtClean="0">
                        <a:latin typeface="Cambria Math"/>
                      </a:rPr>
                      <m:t>,</m:t>
                    </m:r>
                    <m:func>
                      <m:funcPr>
                        <m:ctrlPr>
                          <a:rPr lang="en-US" sz="1800" i="1" dirty="0" smtClean="0">
                            <a:latin typeface="Cambria Math" panose="02040503050406030204" pitchFamily="18" charset="0"/>
                          </a:rPr>
                        </m:ctrlPr>
                      </m:funcPr>
                      <m:fName>
                        <m:r>
                          <a:rPr lang="en-US" sz="1800" b="0" i="1" dirty="0" smtClean="0">
                            <a:latin typeface="Cambria Math" panose="02040503050406030204" pitchFamily="18" charset="0"/>
                          </a:rPr>
                          <m:t> </m:t>
                        </m:r>
                        <m:r>
                          <m:rPr>
                            <m:sty m:val="p"/>
                          </m:rPr>
                          <a:rPr lang="en-US" sz="1800" i="0" dirty="0" err="1" smtClean="0">
                            <a:latin typeface="Cambria Math"/>
                          </a:rPr>
                          <m:t>gcd</m:t>
                        </m:r>
                      </m:fName>
                      <m:e>
                        <m:d>
                          <m:dPr>
                            <m:ctrlPr>
                              <a:rPr lang="en-US" sz="1800" i="1" dirty="0" smtClean="0">
                                <a:latin typeface="Cambria Math" panose="02040503050406030204" pitchFamily="18" charset="0"/>
                              </a:rPr>
                            </m:ctrlPr>
                          </m:dPr>
                          <m:e>
                            <m:r>
                              <a:rPr lang="en-US" sz="1800" i="1" dirty="0" err="1" smtClean="0">
                                <a:latin typeface="Cambria Math"/>
                              </a:rPr>
                              <m:t>𝑒</m:t>
                            </m:r>
                            <m:r>
                              <a:rPr lang="en-US" sz="1800" i="1" dirty="0" err="1" smtClean="0">
                                <a:latin typeface="Cambria Math"/>
                              </a:rPr>
                              <m:t>,</m:t>
                            </m:r>
                            <m:r>
                              <a:rPr lang="en-US" sz="1800" i="1" dirty="0" smtClean="0">
                                <a:latin typeface="Cambria Math"/>
                                <a:ea typeface="Cambria Math"/>
                              </a:rPr>
                              <m:t>𝜑</m:t>
                            </m:r>
                            <m:d>
                              <m:dPr>
                                <m:ctrlPr>
                                  <a:rPr lang="en-US" sz="1800" i="1" dirty="0" smtClean="0">
                                    <a:latin typeface="Cambria Math" panose="02040503050406030204" pitchFamily="18" charset="0"/>
                                    <a:ea typeface="Cambria Math"/>
                                  </a:rPr>
                                </m:ctrlPr>
                              </m:dPr>
                              <m:e>
                                <m:r>
                                  <a:rPr lang="en-US" sz="1800" i="1" dirty="0" smtClean="0">
                                    <a:latin typeface="Cambria Math"/>
                                  </a:rPr>
                                  <m:t>𝑛</m:t>
                                </m:r>
                              </m:e>
                            </m:d>
                          </m:e>
                        </m:d>
                      </m:e>
                    </m:func>
                    <m:r>
                      <a:rPr lang="en-US" sz="1800" i="1" dirty="0" smtClean="0">
                        <a:latin typeface="Cambria Math"/>
                      </a:rPr>
                      <m:t>=1</m:t>
                    </m:r>
                  </m:oMath>
                </a14:m>
                <a:endParaRPr lang="en-US" sz="1800" dirty="0" smtClean="0"/>
              </a:p>
              <a:p>
                <a:pPr lvl="1">
                  <a:buFontTx/>
                  <a:buChar char="•"/>
                </a:pPr>
                <a:r>
                  <a:rPr lang="en-US" sz="1800" dirty="0" smtClean="0"/>
                  <a:t>Calculate d        </a:t>
                </a:r>
                <a14:m>
                  <m:oMath xmlns:m="http://schemas.openxmlformats.org/officeDocument/2006/math">
                    <m:r>
                      <a:rPr lang="en-US" sz="1800" i="1" dirty="0" smtClean="0">
                        <a:latin typeface="Cambria Math"/>
                      </a:rPr>
                      <m:t>𝑑</m:t>
                    </m:r>
                    <m:r>
                      <a:rPr lang="en-US" sz="1800" i="1" dirty="0" smtClean="0">
                        <a:latin typeface="Cambria Math"/>
                      </a:rPr>
                      <m:t>=</m:t>
                    </m:r>
                  </m:oMath>
                </a14:m>
                <a:r>
                  <a:rPr lang="en-US" sz="1800" dirty="0" smtClean="0"/>
                  <a:t> </a:t>
                </a:r>
                <a14:m>
                  <m:oMath xmlns:m="http://schemas.openxmlformats.org/officeDocument/2006/math">
                    <m:sSup>
                      <m:sSupPr>
                        <m:ctrlPr>
                          <a:rPr lang="en-US" sz="1800" i="1" dirty="0" smtClean="0">
                            <a:latin typeface="Cambria Math" panose="02040503050406030204" pitchFamily="18" charset="0"/>
                          </a:rPr>
                        </m:ctrlPr>
                      </m:sSupPr>
                      <m:e>
                        <m:r>
                          <a:rPr lang="en-US" sz="1800" b="0" i="1" dirty="0" smtClean="0">
                            <a:latin typeface="Cambria Math"/>
                          </a:rPr>
                          <m:t>𝑒</m:t>
                        </m:r>
                      </m:e>
                      <m:sup>
                        <m:r>
                          <a:rPr lang="en-US" sz="1800" b="0" i="1" dirty="0" smtClean="0">
                            <a:latin typeface="Cambria Math"/>
                          </a:rPr>
                          <m:t>−1</m:t>
                        </m:r>
                      </m:sup>
                    </m:sSup>
                  </m:oMath>
                </a14:m>
                <a:r>
                  <a:rPr lang="en-US" sz="1800" dirty="0" smtClean="0"/>
                  <a:t> </a:t>
                </a:r>
                <a14:m>
                  <m:oMath xmlns:m="http://schemas.openxmlformats.org/officeDocument/2006/math">
                    <m:r>
                      <a:rPr lang="en-US" sz="1800" i="1" dirty="0" smtClean="0">
                        <a:latin typeface="Cambria Math"/>
                      </a:rPr>
                      <m:t>𝑚𝑜𝑑</m:t>
                    </m:r>
                  </m:oMath>
                </a14:m>
                <a:r>
                  <a:rPr lang="en-US" sz="1800" dirty="0" smtClean="0"/>
                  <a:t> </a:t>
                </a:r>
                <a14:m>
                  <m:oMath xmlns:m="http://schemas.openxmlformats.org/officeDocument/2006/math">
                    <m:r>
                      <a:rPr lang="en-US" sz="1800" i="1" dirty="0">
                        <a:latin typeface="Cambria Math"/>
                        <a:ea typeface="Cambria Math"/>
                      </a:rPr>
                      <m:t>𝜑</m:t>
                    </m:r>
                    <m:d>
                      <m:dPr>
                        <m:ctrlPr>
                          <a:rPr lang="en-US" sz="1800" i="1" dirty="0">
                            <a:latin typeface="Cambria Math" panose="02040503050406030204" pitchFamily="18" charset="0"/>
                            <a:ea typeface="Cambria Math"/>
                          </a:rPr>
                        </m:ctrlPr>
                      </m:dPr>
                      <m:e>
                        <m:r>
                          <a:rPr lang="en-US" sz="1800" i="1" dirty="0">
                            <a:latin typeface="Cambria Math"/>
                          </a:rPr>
                          <m:t>𝑛</m:t>
                        </m:r>
                      </m:e>
                    </m:d>
                  </m:oMath>
                </a14:m>
                <a:endParaRPr lang="en-US" sz="1800" dirty="0" smtClean="0"/>
              </a:p>
              <a:p>
                <a:pPr lvl="1">
                  <a:buFontTx/>
                  <a:buChar char="•"/>
                </a:pPr>
                <a:r>
                  <a:rPr lang="en-US" sz="1800" dirty="0" smtClean="0"/>
                  <a:t>Public key  </a:t>
                </a:r>
                <a14:m>
                  <m:oMath xmlns:m="http://schemas.openxmlformats.org/officeDocument/2006/math">
                    <m:r>
                      <a:rPr lang="en-US" sz="1800" i="1" dirty="0" smtClean="0">
                        <a:latin typeface="Cambria Math"/>
                      </a:rPr>
                      <m:t>(</m:t>
                    </m:r>
                    <m:r>
                      <a:rPr lang="en-US" sz="1800" i="1" dirty="0" err="1" smtClean="0">
                        <a:latin typeface="Cambria Math"/>
                      </a:rPr>
                      <m:t>𝑒</m:t>
                    </m:r>
                    <m:r>
                      <a:rPr lang="en-US" sz="1800" i="1" dirty="0" err="1" smtClean="0">
                        <a:latin typeface="Cambria Math"/>
                      </a:rPr>
                      <m:t>,</m:t>
                    </m:r>
                    <m:r>
                      <a:rPr lang="en-US" sz="1800" i="1" dirty="0" err="1" smtClean="0">
                        <a:latin typeface="Cambria Math"/>
                      </a:rPr>
                      <m:t>𝑛</m:t>
                    </m:r>
                    <m:r>
                      <a:rPr lang="en-US" sz="1800" i="1" dirty="0" smtClean="0">
                        <a:latin typeface="Cambria Math"/>
                      </a:rPr>
                      <m:t>)              </m:t>
                    </m:r>
                  </m:oMath>
                </a14:m>
                <a:r>
                  <a:rPr lang="en-US" sz="1800" dirty="0" smtClean="0"/>
                  <a:t>Private key </a:t>
                </a:r>
                <a14:m>
                  <m:oMath xmlns:m="http://schemas.openxmlformats.org/officeDocument/2006/math">
                    <m:d>
                      <m:dPr>
                        <m:ctrlPr>
                          <a:rPr lang="en-US" sz="1800" i="1" dirty="0" smtClean="0">
                            <a:latin typeface="Cambria Math" panose="02040503050406030204" pitchFamily="18" charset="0"/>
                          </a:rPr>
                        </m:ctrlPr>
                      </m:dPr>
                      <m:e>
                        <m:r>
                          <a:rPr lang="en-US" sz="1800" i="1" dirty="0" err="1" smtClean="0">
                            <a:latin typeface="Cambria Math"/>
                          </a:rPr>
                          <m:t>𝑑</m:t>
                        </m:r>
                        <m:r>
                          <a:rPr lang="en-US" sz="1800" i="1" dirty="0" err="1" smtClean="0">
                            <a:latin typeface="Cambria Math"/>
                          </a:rPr>
                          <m:t>,</m:t>
                        </m:r>
                        <m:r>
                          <a:rPr lang="en-US" sz="1800" i="1" dirty="0" err="1" smtClean="0">
                            <a:latin typeface="Cambria Math"/>
                          </a:rPr>
                          <m:t>𝑛</m:t>
                        </m:r>
                      </m:e>
                    </m:d>
                  </m:oMath>
                </a14:m>
                <a:endParaRPr lang="en-US" sz="2000" dirty="0" smtClean="0"/>
              </a:p>
              <a:p>
                <a:pPr>
                  <a:buFontTx/>
                  <a:buChar char="•"/>
                </a:pPr>
                <a:r>
                  <a:rPr lang="en-US" sz="2000" b="1" dirty="0" smtClean="0"/>
                  <a:t>Encryption by Alice (of a message for Bob)</a:t>
                </a:r>
              </a:p>
              <a:p>
                <a:pPr lvl="1">
                  <a:buFontTx/>
                  <a:buChar char="•"/>
                </a:pPr>
                <a:r>
                  <a:rPr lang="en-US" sz="1800" dirty="0" smtClean="0"/>
                  <a:t>Plaintext (message)    </a:t>
                </a:r>
                <a14:m>
                  <m:oMath xmlns:m="http://schemas.openxmlformats.org/officeDocument/2006/math">
                    <m:r>
                      <a:rPr lang="en-US" sz="1800" i="1" dirty="0" smtClean="0">
                        <a:latin typeface="Cambria Math"/>
                      </a:rPr>
                      <m:t>𝑀</m:t>
                    </m:r>
                    <m:r>
                      <a:rPr lang="en-US" sz="1800" i="1" dirty="0" smtClean="0">
                        <a:latin typeface="Cambria Math"/>
                      </a:rPr>
                      <m:t>&lt;</m:t>
                    </m:r>
                    <m:r>
                      <a:rPr lang="en-US" sz="1800" i="1" dirty="0" smtClean="0">
                        <a:latin typeface="Cambria Math"/>
                      </a:rPr>
                      <m:t>𝑛</m:t>
                    </m:r>
                  </m:oMath>
                </a14:m>
                <a:endParaRPr lang="en-US" sz="1800" dirty="0" smtClean="0"/>
              </a:p>
              <a:p>
                <a:pPr lvl="1">
                  <a:buFontTx/>
                  <a:buChar char="•"/>
                </a:pPr>
                <a:r>
                  <a:rPr lang="en-US" sz="1800" dirty="0" err="1" smtClean="0"/>
                  <a:t>Ciphertext</a:t>
                </a:r>
                <a:r>
                  <a:rPr lang="en-US" sz="1800" dirty="0" smtClean="0"/>
                  <a:t>                   </a:t>
                </a:r>
                <a14:m>
                  <m:oMath xmlns:m="http://schemas.openxmlformats.org/officeDocument/2006/math">
                    <m:r>
                      <a:rPr lang="en-US" sz="1800" i="1" dirty="0" smtClean="0">
                        <a:latin typeface="Cambria Math"/>
                      </a:rPr>
                      <m:t>𝐶</m:t>
                    </m:r>
                    <m:r>
                      <a:rPr lang="en-US" sz="1800" i="1" dirty="0" smtClean="0">
                        <a:latin typeface="Cambria Math"/>
                      </a:rPr>
                      <m:t>= </m:t>
                    </m:r>
                    <m:sSup>
                      <m:sSupPr>
                        <m:ctrlPr>
                          <a:rPr lang="en-US" sz="1800" i="1" dirty="0" smtClean="0">
                            <a:latin typeface="Cambria Math" panose="02040503050406030204" pitchFamily="18" charset="0"/>
                          </a:rPr>
                        </m:ctrlPr>
                      </m:sSupPr>
                      <m:e>
                        <m:r>
                          <a:rPr lang="en-US" sz="1800" b="0" i="1" dirty="0" smtClean="0">
                            <a:latin typeface="Cambria Math"/>
                          </a:rPr>
                          <m:t>𝑀</m:t>
                        </m:r>
                      </m:e>
                      <m:sup>
                        <m:r>
                          <a:rPr lang="en-US" sz="1800" b="0" i="1" dirty="0" smtClean="0">
                            <a:latin typeface="Cambria Math"/>
                          </a:rPr>
                          <m:t>𝑒</m:t>
                        </m:r>
                      </m:sup>
                    </m:sSup>
                    <m:r>
                      <a:rPr lang="en-US" sz="1800" b="0" i="1" dirty="0" smtClean="0">
                        <a:latin typeface="Cambria Math"/>
                      </a:rPr>
                      <m:t> </m:t>
                    </m:r>
                    <m:r>
                      <a:rPr lang="en-US" sz="1800" b="0" i="1" dirty="0" smtClean="0">
                        <a:latin typeface="Cambria Math"/>
                      </a:rPr>
                      <m:t>𝑚𝑜𝑑</m:t>
                    </m:r>
                    <m:r>
                      <a:rPr lang="en-US" sz="1800" b="0" i="1" dirty="0" smtClean="0">
                        <a:latin typeface="Cambria Math"/>
                      </a:rPr>
                      <m:t> </m:t>
                    </m:r>
                    <m:r>
                      <a:rPr lang="en-US" sz="1800" b="0" i="1" dirty="0" smtClean="0">
                        <a:latin typeface="Cambria Math"/>
                      </a:rPr>
                      <m:t>𝑛</m:t>
                    </m:r>
                  </m:oMath>
                </a14:m>
                <a:endParaRPr lang="en-US" sz="1800" dirty="0" smtClean="0"/>
              </a:p>
              <a:p>
                <a:pPr>
                  <a:buFontTx/>
                  <a:buChar char="•"/>
                </a:pPr>
                <a:r>
                  <a:rPr lang="en-US" sz="2000" b="1" dirty="0" smtClean="0"/>
                  <a:t>Decryption </a:t>
                </a:r>
                <a:r>
                  <a:rPr lang="en-US" sz="2000" b="1" dirty="0"/>
                  <a:t>by </a:t>
                </a:r>
                <a:r>
                  <a:rPr lang="en-US" sz="2000" b="1" dirty="0" smtClean="0"/>
                  <a:t>Bob </a:t>
                </a:r>
                <a:r>
                  <a:rPr lang="en-US" sz="2000" b="1" dirty="0"/>
                  <a:t>(of </a:t>
                </a:r>
                <a:r>
                  <a:rPr lang="en-US" sz="2000" b="1" dirty="0" smtClean="0"/>
                  <a:t>the </a:t>
                </a:r>
                <a:r>
                  <a:rPr lang="en-US" sz="2000" b="1" dirty="0"/>
                  <a:t>message </a:t>
                </a:r>
                <a:r>
                  <a:rPr lang="en-US" sz="2000" b="1" dirty="0" smtClean="0"/>
                  <a:t>from Alice)</a:t>
                </a:r>
                <a:endParaRPr lang="en-US" sz="2000" b="1" dirty="0"/>
              </a:p>
              <a:p>
                <a:pPr lvl="1">
                  <a:buFontTx/>
                  <a:buChar char="•"/>
                </a:pPr>
                <a:r>
                  <a:rPr lang="en-US" sz="1800" dirty="0" err="1" smtClean="0"/>
                  <a:t>Ciphertext</a:t>
                </a:r>
                <a:r>
                  <a:rPr lang="en-US" sz="1800" dirty="0" smtClean="0"/>
                  <a:t>                    </a:t>
                </a:r>
                <a14:m>
                  <m:oMath xmlns:m="http://schemas.openxmlformats.org/officeDocument/2006/math">
                    <m:r>
                      <a:rPr lang="en-US" sz="1800" b="0" i="1" dirty="0" smtClean="0">
                        <a:latin typeface="Cambria Math"/>
                      </a:rPr>
                      <m:t>𝐶</m:t>
                    </m:r>
                  </m:oMath>
                </a14:m>
                <a:endParaRPr lang="en-US" sz="1800" b="0" dirty="0" smtClean="0"/>
              </a:p>
              <a:p>
                <a:pPr lvl="1">
                  <a:buFontTx/>
                  <a:buChar char="•"/>
                </a:pPr>
                <a:r>
                  <a:rPr lang="en-US" sz="1800" dirty="0" smtClean="0"/>
                  <a:t>Plaintext                   </a:t>
                </a:r>
                <a14:m>
                  <m:oMath xmlns:m="http://schemas.openxmlformats.org/officeDocument/2006/math">
                    <m:r>
                      <a:rPr lang="en-US" sz="1800" b="0" i="1" dirty="0" smtClean="0">
                        <a:latin typeface="Cambria Math"/>
                      </a:rPr>
                      <m:t>𝑀</m:t>
                    </m:r>
                    <m:r>
                      <a:rPr lang="en-US" sz="1800" i="1" dirty="0">
                        <a:latin typeface="Cambria Math"/>
                      </a:rPr>
                      <m:t>= </m:t>
                    </m:r>
                    <m:sSup>
                      <m:sSupPr>
                        <m:ctrlPr>
                          <a:rPr lang="en-US" sz="1800" i="1" dirty="0" smtClean="0">
                            <a:latin typeface="Cambria Math" panose="02040503050406030204" pitchFamily="18" charset="0"/>
                          </a:rPr>
                        </m:ctrlPr>
                      </m:sSupPr>
                      <m:e>
                        <m:r>
                          <a:rPr lang="en-US" sz="1800" b="0" i="1" dirty="0" smtClean="0">
                            <a:latin typeface="Cambria Math"/>
                          </a:rPr>
                          <m:t>𝐶</m:t>
                        </m:r>
                      </m:e>
                      <m:sup>
                        <m:r>
                          <a:rPr lang="en-US" sz="1800" b="0" i="1" dirty="0" smtClean="0">
                            <a:latin typeface="Cambria Math"/>
                          </a:rPr>
                          <m:t>𝑑</m:t>
                        </m:r>
                      </m:sup>
                    </m:sSup>
                    <m:r>
                      <a:rPr lang="en-US" sz="1800" i="1" dirty="0">
                        <a:latin typeface="Cambria Math"/>
                      </a:rPr>
                      <m:t> </m:t>
                    </m:r>
                    <m:r>
                      <a:rPr lang="en-US" sz="1800" i="1" dirty="0">
                        <a:latin typeface="Cambria Math"/>
                      </a:rPr>
                      <m:t>𝑚𝑜𝑑</m:t>
                    </m:r>
                    <m:r>
                      <a:rPr lang="en-US" sz="1800" i="1" dirty="0">
                        <a:latin typeface="Cambria Math"/>
                      </a:rPr>
                      <m:t> </m:t>
                    </m:r>
                    <m:r>
                      <a:rPr lang="en-US" sz="1800" i="1" dirty="0">
                        <a:latin typeface="Cambria Math"/>
                      </a:rPr>
                      <m:t>𝑛</m:t>
                    </m:r>
                  </m:oMath>
                </a14:m>
                <a:endParaRPr lang="en-US" sz="1800" dirty="0"/>
              </a:p>
              <a:p>
                <a:pPr lvl="1"/>
                <a:endParaRPr lang="en-US" sz="2000" dirty="0"/>
              </a:p>
              <a:p>
                <a:endParaRPr lang="en-US" dirty="0"/>
              </a:p>
            </p:txBody>
          </p:sp>
        </mc:Choice>
        <mc:Fallback xmlns="">
          <p:sp>
            <p:nvSpPr>
              <p:cNvPr id="3" name="Text Placeholder 2"/>
              <p:cNvSpPr>
                <a:spLocks noGrp="1" noRot="1" noChangeAspect="1" noMove="1" noResize="1" noEditPoints="1" noAdjustHandles="1" noChangeArrowheads="1" noChangeShapeType="1" noTextEdit="1"/>
              </p:cNvSpPr>
              <p:nvPr>
                <p:ph idx="1"/>
              </p:nvPr>
            </p:nvSpPr>
            <p:spPr>
              <a:xfrm>
                <a:off x="876300" y="1600200"/>
                <a:ext cx="7429500" cy="4876800"/>
              </a:xfrm>
              <a:blipFill>
                <a:blip r:embed="rId3"/>
                <a:stretch>
                  <a:fillRect l="-902" t="-1500"/>
                </a:stretch>
              </a:blipFill>
            </p:spPr>
            <p:txBody>
              <a:bodyPr/>
              <a:lstStyle/>
              <a:p>
                <a:r>
                  <a:rPr lang="en-US">
                    <a:noFill/>
                  </a:rPr>
                  <a:t> </a:t>
                </a:r>
              </a:p>
            </p:txBody>
          </p:sp>
        </mc:Fallback>
      </mc:AlternateContent>
    </p:spTree>
    <p:extLst>
      <p:ext uri="{BB962C8B-B14F-4D97-AF65-F5344CB8AC3E}">
        <p14:creationId xmlns:p14="http://schemas.microsoft.com/office/powerpoint/2010/main" val="247830682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One Problem: Authentication</a:t>
            </a:r>
            <a:endParaRPr lang="en-US" dirty="0"/>
          </a:p>
        </p:txBody>
      </p:sp>
      <p:sp>
        <p:nvSpPr>
          <p:cNvPr id="3" name="Text Placeholder 2"/>
          <p:cNvSpPr>
            <a:spLocks noGrp="1"/>
          </p:cNvSpPr>
          <p:nvPr>
            <p:ph idx="1"/>
          </p:nvPr>
        </p:nvSpPr>
        <p:spPr>
          <a:xfrm>
            <a:off x="762000" y="2057400"/>
            <a:ext cx="7467600" cy="3962400"/>
          </a:xfrm>
        </p:spPr>
        <p:txBody>
          <a:bodyPr/>
          <a:lstStyle/>
          <a:p>
            <a:pPr>
              <a:buFont typeface="Calibri" panose="020F0502020204030204" pitchFamily="34" charset="0"/>
              <a:buChar char="•"/>
            </a:pPr>
            <a:r>
              <a:rPr lang="en-US" sz="2400" dirty="0" smtClean="0"/>
              <a:t>How does Bob know that the message is indeed from Alice?</a:t>
            </a:r>
          </a:p>
          <a:p>
            <a:pPr>
              <a:buFont typeface="Calibri" panose="020F0502020204030204" pitchFamily="34" charset="0"/>
              <a:buChar char="•"/>
            </a:pPr>
            <a:endParaRPr lang="en-US" sz="2400" dirty="0" smtClean="0"/>
          </a:p>
          <a:p>
            <a:pPr>
              <a:buFont typeface="Calibri" panose="020F0502020204030204" pitchFamily="34" charset="0"/>
              <a:buChar char="•"/>
            </a:pPr>
            <a:r>
              <a:rPr lang="en-US" sz="2400" dirty="0" smtClean="0"/>
              <a:t>Someone else might have used Bob’s public key, sent him the message, and claimed he/she was Alice!</a:t>
            </a:r>
          </a:p>
          <a:p>
            <a:pPr>
              <a:buFont typeface="Calibri" panose="020F0502020204030204" pitchFamily="34" charset="0"/>
              <a:buChar char="•"/>
            </a:pPr>
            <a:endParaRPr lang="en-US" sz="2400" dirty="0" smtClean="0"/>
          </a:p>
          <a:p>
            <a:pPr>
              <a:buFont typeface="Calibri" panose="020F0502020204030204" pitchFamily="34" charset="0"/>
              <a:buChar char="•"/>
            </a:pPr>
            <a:r>
              <a:rPr lang="en-US" sz="2400" dirty="0" smtClean="0"/>
              <a:t>Solution: Digital signatures and certificates</a:t>
            </a:r>
          </a:p>
          <a:p>
            <a:endParaRPr lang="en-US" dirty="0"/>
          </a:p>
          <a:p>
            <a:endParaRPr lang="en-US" dirty="0"/>
          </a:p>
        </p:txBody>
      </p:sp>
    </p:spTree>
    <p:extLst>
      <p:ext uri="{BB962C8B-B14F-4D97-AF65-F5344CB8AC3E}">
        <p14:creationId xmlns:p14="http://schemas.microsoft.com/office/powerpoint/2010/main" val="393379833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57200"/>
            <a:ext cx="8058150" cy="944563"/>
          </a:xfrm>
        </p:spPr>
        <p:txBody>
          <a:bodyPr/>
          <a:lstStyle/>
          <a:p>
            <a:r>
              <a:rPr lang="en-US" dirty="0" smtClean="0"/>
              <a:t>2. Key Agreement (Exchange) Protocols</a:t>
            </a:r>
            <a:endParaRPr lang="en-US" dirty="0"/>
          </a:p>
        </p:txBody>
      </p:sp>
      <p:sp>
        <p:nvSpPr>
          <p:cNvPr id="3" name="Text Placeholder 2"/>
          <p:cNvSpPr>
            <a:spLocks noGrp="1"/>
          </p:cNvSpPr>
          <p:nvPr>
            <p:ph idx="1"/>
          </p:nvPr>
        </p:nvSpPr>
        <p:spPr/>
        <p:txBody>
          <a:bodyPr/>
          <a:lstStyle/>
          <a:p>
            <a:r>
              <a:rPr lang="en-US" sz="2400" dirty="0" smtClean="0"/>
              <a:t>Public Key Cryptography gives us another way to </a:t>
            </a:r>
            <a:r>
              <a:rPr lang="en-US" sz="2400" dirty="0"/>
              <a:t>communicate privately without </a:t>
            </a:r>
            <a:r>
              <a:rPr lang="en-US" sz="2400" dirty="0" smtClean="0"/>
              <a:t>having to share secret information prior to the communication. </a:t>
            </a:r>
          </a:p>
          <a:p>
            <a:pPr marL="106680" indent="0">
              <a:buNone/>
            </a:pPr>
            <a:endParaRPr lang="en-US" sz="2400" dirty="0" smtClean="0"/>
          </a:p>
          <a:p>
            <a:r>
              <a:rPr lang="en-US" sz="2400" dirty="0" smtClean="0"/>
              <a:t>Purpose is to </a:t>
            </a:r>
            <a:r>
              <a:rPr lang="en-AU" sz="2400" dirty="0"/>
              <a:t>enable two users to securely </a:t>
            </a:r>
            <a:r>
              <a:rPr lang="en-AU" sz="2400" dirty="0" smtClean="0"/>
              <a:t>agree on </a:t>
            </a:r>
            <a:r>
              <a:rPr lang="en-AU" sz="2400" dirty="0"/>
              <a:t>a key that can then be used for subsequent symmetric encryption of </a:t>
            </a:r>
            <a:r>
              <a:rPr lang="en-AU" sz="2400" dirty="0" smtClean="0"/>
              <a:t>messages.</a:t>
            </a:r>
            <a:endParaRPr lang="en-AU" sz="2400" dirty="0"/>
          </a:p>
          <a:p>
            <a:endParaRPr lang="en-US" dirty="0"/>
          </a:p>
        </p:txBody>
      </p:sp>
    </p:spTree>
    <p:extLst>
      <p:ext uri="{BB962C8B-B14F-4D97-AF65-F5344CB8AC3E}">
        <p14:creationId xmlns:p14="http://schemas.microsoft.com/office/powerpoint/2010/main" val="328531776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6750" y="228600"/>
            <a:ext cx="7886700" cy="1325563"/>
          </a:xfrm>
        </p:spPr>
        <p:txBody>
          <a:bodyPr/>
          <a:lstStyle/>
          <a:p>
            <a:r>
              <a:rPr lang="en-US" dirty="0" smtClean="0"/>
              <a:t>Key Agreement Protocols</a:t>
            </a:r>
            <a:endParaRPr lang="en-US" dirty="0"/>
          </a:p>
        </p:txBody>
      </p:sp>
      <p:sp>
        <p:nvSpPr>
          <p:cNvPr id="3" name="Text Placeholder 2"/>
          <p:cNvSpPr>
            <a:spLocks noGrp="1"/>
          </p:cNvSpPr>
          <p:nvPr>
            <p:ph idx="1"/>
          </p:nvPr>
        </p:nvSpPr>
        <p:spPr/>
        <p:txBody>
          <a:bodyPr>
            <a:normAutofit/>
          </a:bodyPr>
          <a:lstStyle/>
          <a:p>
            <a:r>
              <a:rPr lang="en-US" sz="2400" dirty="0" smtClean="0"/>
              <a:t>Alice and Bob both have public and private keys.</a:t>
            </a:r>
          </a:p>
          <a:p>
            <a:pPr marL="106680" indent="0">
              <a:buNone/>
            </a:pPr>
            <a:endParaRPr lang="en-US" sz="2400" dirty="0" smtClean="0"/>
          </a:p>
          <a:p>
            <a:r>
              <a:rPr lang="en-US" sz="2400" dirty="0" smtClean="0"/>
              <a:t>These keys are chosen so that Alice and Bob can compute the same number using their </a:t>
            </a:r>
            <a:r>
              <a:rPr lang="en-US" sz="2400" b="1" dirty="0" smtClean="0"/>
              <a:t>own private key </a:t>
            </a:r>
            <a:r>
              <a:rPr lang="en-US" sz="2400" dirty="0" smtClean="0"/>
              <a:t>and the </a:t>
            </a:r>
            <a:r>
              <a:rPr lang="en-US" sz="2400" b="1" dirty="0" smtClean="0"/>
              <a:t>other’s public key</a:t>
            </a:r>
            <a:r>
              <a:rPr lang="en-US" sz="2400" dirty="0" smtClean="0"/>
              <a:t>. </a:t>
            </a:r>
          </a:p>
          <a:p>
            <a:endParaRPr lang="en-US" sz="2400" dirty="0"/>
          </a:p>
          <a:p>
            <a:r>
              <a:rPr lang="en-US" sz="2400" dirty="0" smtClean="0"/>
              <a:t>This key that they compute is very hard to find without the knowledge of one of the private keys or with the knowledge of both the public keys.</a:t>
            </a:r>
            <a:endParaRPr lang="en-US" sz="2400" dirty="0"/>
          </a:p>
        </p:txBody>
      </p:sp>
    </p:spTree>
    <p:extLst>
      <p:ext uri="{BB962C8B-B14F-4D97-AF65-F5344CB8AC3E}">
        <p14:creationId xmlns:p14="http://schemas.microsoft.com/office/powerpoint/2010/main" val="363116357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685800" y="566738"/>
            <a:ext cx="8001000" cy="792162"/>
          </a:xfrm>
        </p:spPr>
        <p:txBody>
          <a:bodyPr/>
          <a:lstStyle/>
          <a:p>
            <a:r>
              <a:rPr lang="en-US" dirty="0" smtClean="0"/>
              <a:t>Key Agreement</a:t>
            </a:r>
            <a:endParaRPr lang="en-US" dirty="0"/>
          </a:p>
        </p:txBody>
      </p:sp>
      <p:grpSp>
        <p:nvGrpSpPr>
          <p:cNvPr id="3" name="Group 2"/>
          <p:cNvGrpSpPr/>
          <p:nvPr/>
        </p:nvGrpSpPr>
        <p:grpSpPr>
          <a:xfrm>
            <a:off x="1454426" y="1371600"/>
            <a:ext cx="5865918" cy="4933950"/>
            <a:chOff x="1454426" y="1371600"/>
            <a:chExt cx="5865918" cy="493395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4426" y="1371600"/>
              <a:ext cx="5865918" cy="4933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2362200" y="6074718"/>
              <a:ext cx="4343400" cy="230832"/>
            </a:xfrm>
            <a:prstGeom prst="rect">
              <a:avLst/>
            </a:prstGeom>
            <a:noFill/>
          </p:spPr>
          <p:txBody>
            <a:bodyPr wrap="square" rtlCol="0">
              <a:spAutoFit/>
            </a:bodyPr>
            <a:lstStyle/>
            <a:p>
              <a:r>
                <a:rPr lang="en-US" sz="900" dirty="0" smtClean="0"/>
                <a:t>“</a:t>
              </a:r>
              <a:r>
                <a:rPr lang="en-US" sz="900" dirty="0"/>
                <a:t>K</a:t>
              </a:r>
              <a:r>
                <a:rPr lang="en-US" sz="900" dirty="0" smtClean="0"/>
                <a:t>ey Agreement" </a:t>
              </a:r>
              <a:r>
                <a:rPr lang="en-US" sz="900" dirty="0"/>
                <a:t>by Yesem Kurt-</a:t>
              </a:r>
              <a:r>
                <a:rPr lang="en-US" sz="900" dirty="0" err="1"/>
                <a:t>Peker</a:t>
              </a:r>
              <a:r>
                <a:rPr lang="en-US" sz="900" dirty="0"/>
                <a:t> licensed under </a:t>
              </a:r>
              <a:r>
                <a:rPr lang="en-US" sz="900" dirty="0">
                  <a:hlinkClick r:id="rId4"/>
                </a:rPr>
                <a:t>CC BY 4.0 </a:t>
              </a:r>
              <a:endParaRPr lang="en-US" sz="900" dirty="0"/>
            </a:p>
          </p:txBody>
        </p:sp>
      </p:grpSp>
    </p:spTree>
    <p:extLst>
      <p:ext uri="{BB962C8B-B14F-4D97-AF65-F5344CB8AC3E}">
        <p14:creationId xmlns:p14="http://schemas.microsoft.com/office/powerpoint/2010/main" val="9661701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1990" y="533400"/>
            <a:ext cx="8229600" cy="792162"/>
          </a:xfrm>
        </p:spPr>
        <p:txBody>
          <a:bodyPr/>
          <a:lstStyle/>
          <a:p>
            <a:r>
              <a:rPr lang="en-US" dirty="0" smtClean="0"/>
              <a:t>Examples of Key Agreement Schemes</a:t>
            </a:r>
            <a:endParaRPr lang="en-US" dirty="0"/>
          </a:p>
        </p:txBody>
      </p:sp>
      <p:sp>
        <p:nvSpPr>
          <p:cNvPr id="3" name="Text Placeholder 2"/>
          <p:cNvSpPr>
            <a:spLocks noGrp="1"/>
          </p:cNvSpPr>
          <p:nvPr>
            <p:ph idx="1"/>
          </p:nvPr>
        </p:nvSpPr>
        <p:spPr>
          <a:xfrm>
            <a:off x="689610" y="1752600"/>
            <a:ext cx="8454390" cy="3771900"/>
          </a:xfrm>
        </p:spPr>
        <p:txBody>
          <a:bodyPr>
            <a:normAutofit lnSpcReduction="10000"/>
          </a:bodyPr>
          <a:lstStyle/>
          <a:p>
            <a:r>
              <a:rPr lang="en-US" sz="2400" dirty="0" err="1" smtClean="0"/>
              <a:t>Diffie</a:t>
            </a:r>
            <a:r>
              <a:rPr lang="en-US" sz="2400" dirty="0" smtClean="0"/>
              <a:t>-Hellman Key Agreement (DH) </a:t>
            </a:r>
          </a:p>
          <a:p>
            <a:pPr lvl="1"/>
            <a:r>
              <a:rPr lang="en-US" sz="2400" b="1" dirty="0" smtClean="0"/>
              <a:t>First public key algorithm (1976)</a:t>
            </a:r>
          </a:p>
          <a:p>
            <a:pPr lvl="1"/>
            <a:r>
              <a:rPr lang="en-US" sz="2400" dirty="0" smtClean="0"/>
              <a:t>Developed by </a:t>
            </a:r>
            <a:r>
              <a:rPr lang="en-US" sz="2400" dirty="0" err="1" smtClean="0"/>
              <a:t>Diffie</a:t>
            </a:r>
            <a:r>
              <a:rPr lang="en-US" sz="2400" dirty="0" smtClean="0"/>
              <a:t> and Hellman and </a:t>
            </a:r>
            <a:r>
              <a:rPr lang="en-US" sz="2400" dirty="0" err="1" smtClean="0"/>
              <a:t>Merkle</a:t>
            </a:r>
            <a:r>
              <a:rPr lang="en-US" sz="2400" dirty="0" smtClean="0"/>
              <a:t> independently</a:t>
            </a:r>
          </a:p>
          <a:p>
            <a:pPr lvl="1"/>
            <a:r>
              <a:rPr lang="en-US" sz="2400" dirty="0" smtClean="0"/>
              <a:t>Included </a:t>
            </a:r>
            <a:r>
              <a:rPr lang="en-US" sz="2400" dirty="0"/>
              <a:t>in the cipher suite for key agreement/exchange in </a:t>
            </a:r>
            <a:r>
              <a:rPr lang="en-US" sz="2400" dirty="0" smtClean="0"/>
              <a:t>TLS/SSL and Bluetooth </a:t>
            </a:r>
            <a:r>
              <a:rPr lang="en-US" sz="2400" dirty="0"/>
              <a:t>Low Energy (LE) </a:t>
            </a:r>
            <a:r>
              <a:rPr lang="en-US" sz="2400" dirty="0" smtClean="0"/>
              <a:t>protocols</a:t>
            </a:r>
          </a:p>
          <a:p>
            <a:pPr lvl="1"/>
            <a:endParaRPr lang="en-US" sz="2400" dirty="0"/>
          </a:p>
          <a:p>
            <a:r>
              <a:rPr lang="en-US" sz="2400" dirty="0" smtClean="0"/>
              <a:t>Elliptic Curve </a:t>
            </a:r>
            <a:r>
              <a:rPr lang="en-US" sz="2400" dirty="0" err="1" smtClean="0"/>
              <a:t>Diffie</a:t>
            </a:r>
            <a:r>
              <a:rPr lang="en-US" sz="2400" dirty="0" smtClean="0"/>
              <a:t>-Hellman Key Agreement (1985)</a:t>
            </a:r>
          </a:p>
          <a:p>
            <a:pPr lvl="1"/>
            <a:r>
              <a:rPr lang="en-US" sz="2400" dirty="0" smtClean="0"/>
              <a:t>Same idea as DH but works on elliptic curves</a:t>
            </a:r>
          </a:p>
          <a:p>
            <a:pPr lvl="1"/>
            <a:r>
              <a:rPr lang="en-US" sz="2400" dirty="0"/>
              <a:t>Included in the cipher suite for key agreement/exchange in </a:t>
            </a:r>
            <a:r>
              <a:rPr lang="en-US" sz="2400" dirty="0" smtClean="0"/>
              <a:t>TLS/SSL and </a:t>
            </a:r>
            <a:r>
              <a:rPr lang="en-US" sz="2400" dirty="0"/>
              <a:t>Bluetooth </a:t>
            </a:r>
            <a:r>
              <a:rPr lang="en-US" sz="2400" dirty="0" smtClean="0"/>
              <a:t>(</a:t>
            </a:r>
            <a:r>
              <a:rPr lang="en-US" sz="2400" dirty="0"/>
              <a:t>LE) protocols</a:t>
            </a:r>
            <a:endParaRPr lang="en-US" sz="2400" dirty="0" smtClean="0"/>
          </a:p>
          <a:p>
            <a:pPr lvl="1"/>
            <a:endParaRPr lang="en-US" dirty="0"/>
          </a:p>
        </p:txBody>
      </p:sp>
    </p:spTree>
    <p:extLst>
      <p:ext uri="{BB962C8B-B14F-4D97-AF65-F5344CB8AC3E}">
        <p14:creationId xmlns:p14="http://schemas.microsoft.com/office/powerpoint/2010/main" val="209741931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1026"/>
          <p:cNvSpPr>
            <a:spLocks noGrp="1" noChangeArrowheads="1"/>
          </p:cNvSpPr>
          <p:nvPr>
            <p:ph type="title"/>
          </p:nvPr>
        </p:nvSpPr>
        <p:spPr/>
        <p:txBody>
          <a:bodyPr/>
          <a:lstStyle/>
          <a:p>
            <a:r>
              <a:rPr lang="en-US" dirty="0" smtClean="0"/>
              <a:t>Use of Key Agreement Protocols</a:t>
            </a:r>
            <a:endParaRPr lang="en-AU" dirty="0"/>
          </a:p>
        </p:txBody>
      </p:sp>
      <p:sp>
        <p:nvSpPr>
          <p:cNvPr id="96259" name="Rectangle 1027"/>
          <p:cNvSpPr>
            <a:spLocks noGrp="1" noChangeArrowheads="1"/>
          </p:cNvSpPr>
          <p:nvPr>
            <p:ph idx="1"/>
          </p:nvPr>
        </p:nvSpPr>
        <p:spPr/>
        <p:txBody>
          <a:bodyPr>
            <a:normAutofit/>
          </a:bodyPr>
          <a:lstStyle/>
          <a:p>
            <a:r>
              <a:rPr lang="en-AU" sz="2400" dirty="0" smtClean="0"/>
              <a:t>Users could create random private/public keys </a:t>
            </a:r>
            <a:r>
              <a:rPr lang="en-AU" sz="2400" b="1" dirty="0" smtClean="0"/>
              <a:t>each</a:t>
            </a:r>
            <a:r>
              <a:rPr lang="en-AU" sz="2400" dirty="0" smtClean="0"/>
              <a:t> time they communicate</a:t>
            </a:r>
          </a:p>
          <a:p>
            <a:pPr marL="106680" indent="0">
              <a:buNone/>
            </a:pPr>
            <a:r>
              <a:rPr lang="en-AU" sz="2400" dirty="0" smtClean="0"/>
              <a:t>             OR</a:t>
            </a:r>
          </a:p>
          <a:p>
            <a:r>
              <a:rPr lang="en-AU" sz="2400" dirty="0" smtClean="0"/>
              <a:t>Users could create private and public keys and </a:t>
            </a:r>
            <a:r>
              <a:rPr lang="en-AU" sz="2400" b="1" dirty="0" smtClean="0"/>
              <a:t>publish</a:t>
            </a:r>
            <a:r>
              <a:rPr lang="en-AU" sz="2400" dirty="0" smtClean="0"/>
              <a:t> the public key </a:t>
            </a:r>
          </a:p>
          <a:p>
            <a:endParaRPr lang="en-AU" sz="2400" dirty="0" smtClean="0"/>
          </a:p>
          <a:p>
            <a:r>
              <a:rPr lang="en-AU" sz="2400" b="1" dirty="0" smtClean="0"/>
              <a:t>Problem:</a:t>
            </a:r>
            <a:r>
              <a:rPr lang="en-AU" sz="2400" dirty="0" smtClean="0"/>
              <a:t> Vulnerable to Man-in-the-Middle-Attack</a:t>
            </a:r>
          </a:p>
          <a:p>
            <a:endParaRPr lang="en-AU" dirty="0" smtClean="0"/>
          </a:p>
          <a:p>
            <a:endParaRPr lang="en-AU" dirty="0"/>
          </a:p>
        </p:txBody>
      </p:sp>
    </p:spTree>
    <p:extLst>
      <p:ext uri="{BB962C8B-B14F-4D97-AF65-F5344CB8AC3E}">
        <p14:creationId xmlns:p14="http://schemas.microsoft.com/office/powerpoint/2010/main" val="199943720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609600" y="533400"/>
            <a:ext cx="8064500" cy="715962"/>
          </a:xfrm>
        </p:spPr>
        <p:txBody>
          <a:bodyPr/>
          <a:lstStyle/>
          <a:p>
            <a:r>
              <a:rPr lang="en-US" dirty="0" smtClean="0"/>
              <a:t>Man in the Middle (MITM) Attack</a:t>
            </a:r>
            <a:endParaRPr lang="en-US" dirty="0"/>
          </a:p>
        </p:txBody>
      </p:sp>
      <p:grpSp>
        <p:nvGrpSpPr>
          <p:cNvPr id="3" name="Group 2"/>
          <p:cNvGrpSpPr/>
          <p:nvPr/>
        </p:nvGrpSpPr>
        <p:grpSpPr>
          <a:xfrm>
            <a:off x="457200" y="1143000"/>
            <a:ext cx="7924800" cy="5564412"/>
            <a:chOff x="457200" y="1143000"/>
            <a:chExt cx="7924800" cy="5564412"/>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143000"/>
              <a:ext cx="7924800" cy="55644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2590800" y="6400800"/>
              <a:ext cx="4343400" cy="230832"/>
            </a:xfrm>
            <a:prstGeom prst="rect">
              <a:avLst/>
            </a:prstGeom>
            <a:noFill/>
          </p:spPr>
          <p:txBody>
            <a:bodyPr wrap="square" rtlCol="0">
              <a:spAutoFit/>
            </a:bodyPr>
            <a:lstStyle/>
            <a:p>
              <a:r>
                <a:rPr lang="en-US" sz="900" dirty="0" smtClean="0"/>
                <a:t>“Man in the Middle Attack" </a:t>
              </a:r>
              <a:r>
                <a:rPr lang="en-US" sz="900" dirty="0"/>
                <a:t>by Yesem Kurt-</a:t>
              </a:r>
              <a:r>
                <a:rPr lang="en-US" sz="900" dirty="0" err="1"/>
                <a:t>Peker</a:t>
              </a:r>
              <a:r>
                <a:rPr lang="en-US" sz="900" dirty="0"/>
                <a:t> licensed under </a:t>
              </a:r>
              <a:r>
                <a:rPr lang="en-US" sz="900" dirty="0">
                  <a:hlinkClick r:id="rId4"/>
                </a:rPr>
                <a:t>CC BY 4.0 </a:t>
              </a:r>
              <a:endParaRPr lang="en-US" sz="900" dirty="0"/>
            </a:p>
          </p:txBody>
        </p:sp>
      </p:grpSp>
    </p:spTree>
    <p:extLst>
      <p:ext uri="{BB962C8B-B14F-4D97-AF65-F5344CB8AC3E}">
        <p14:creationId xmlns:p14="http://schemas.microsoft.com/office/powerpoint/2010/main" val="70177830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Another Problem: Integrity</a:t>
            </a:r>
            <a:endParaRPr lang="en-US" dirty="0"/>
          </a:p>
        </p:txBody>
      </p:sp>
      <p:sp>
        <p:nvSpPr>
          <p:cNvPr id="3" name="Text Placeholder 2"/>
          <p:cNvSpPr>
            <a:spLocks noGrp="1"/>
          </p:cNvSpPr>
          <p:nvPr>
            <p:ph idx="1"/>
          </p:nvPr>
        </p:nvSpPr>
        <p:spPr/>
        <p:txBody>
          <a:bodyPr>
            <a:normAutofit/>
          </a:bodyPr>
          <a:lstStyle/>
          <a:p>
            <a:r>
              <a:rPr lang="en-US" sz="2400" dirty="0" smtClean="0"/>
              <a:t>How does Bob know that the message was not altered on the way (in transit)? </a:t>
            </a:r>
          </a:p>
          <a:p>
            <a:pPr lvl="1"/>
            <a:r>
              <a:rPr lang="en-US" sz="2400" dirty="0" smtClean="0"/>
              <a:t>Even if Bob is able to authenticate that the message is from Alice, it may be that someone altered the message on the way and then put the signature back on it. How can he avoid this?</a:t>
            </a:r>
          </a:p>
          <a:p>
            <a:endParaRPr lang="en-US" sz="2400" dirty="0"/>
          </a:p>
          <a:p>
            <a:r>
              <a:rPr lang="en-US" sz="2400" dirty="0" smtClean="0"/>
              <a:t>Solution: Hash functions</a:t>
            </a:r>
            <a:endParaRPr lang="en-US" sz="2400" dirty="0"/>
          </a:p>
        </p:txBody>
      </p:sp>
    </p:spTree>
    <p:extLst>
      <p:ext uri="{BB962C8B-B14F-4D97-AF65-F5344CB8AC3E}">
        <p14:creationId xmlns:p14="http://schemas.microsoft.com/office/powerpoint/2010/main" val="138242356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4586281"/>
      </p:ext>
    </p:extLst>
  </p:cSld>
  <p:clrMapOvr>
    <a:masterClrMapping/>
  </p:clrMapOvr>
  <p:timing>
    <p:tnLst>
      <p:par>
        <p:cTn id="1" dur="indefinite" restart="never" nodeType="tmRoot"/>
      </p:par>
    </p:tnLst>
  </p:timing>
</p:sld>
</file>

<file path=ppt/theme/theme1.xml><?xml version="1.0" encoding="utf-8"?>
<a:theme xmlns:a="http://schemas.openxmlformats.org/drawingml/2006/main" name="PP_C5Modules_CC_License_standard">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_C5Modules_CC_License_standard" id="{F0FA9D47-06A1-4F86-A3DE-945BA88B3B0E}" vid="{A7340899-09C2-4C21-8394-A4D30A56A33C}"/>
    </a:ext>
  </a:ext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PP_C5Modules_CC_License_standard</Template>
  <TotalTime>1690</TotalTime>
  <Words>1524</Words>
  <Application>Microsoft Office PowerPoint</Application>
  <PresentationFormat>On-screen Show (4:3)</PresentationFormat>
  <Paragraphs>142</Paragraphs>
  <Slides>22</Slides>
  <Notes>15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Libre Baskerville</vt:lpstr>
      <vt:lpstr>Calibri Light</vt:lpstr>
      <vt:lpstr>Calibri</vt:lpstr>
      <vt:lpstr>ＭＳ Ｐゴシック</vt:lpstr>
      <vt:lpstr>Arial</vt:lpstr>
      <vt:lpstr>Noto Symbol</vt:lpstr>
      <vt:lpstr>Times New Roman</vt:lpstr>
      <vt:lpstr>Cambria Math</vt:lpstr>
      <vt:lpstr>PP_C5Modules_CC_License_standard</vt:lpstr>
      <vt:lpstr>Applied Cryptography</vt:lpstr>
      <vt:lpstr>Learning Objectives</vt:lpstr>
      <vt:lpstr>Recall: Cryptography</vt:lpstr>
      <vt:lpstr>Recall: Cryptography and the Main Tenets of Information Security</vt:lpstr>
      <vt:lpstr>Recall: Symmetric Key Cryptography</vt:lpstr>
      <vt:lpstr>Recall Problem of Key Distribution and Management</vt:lpstr>
      <vt:lpstr>Public Key Cryptography</vt:lpstr>
      <vt:lpstr>Solutions for Key Distribution</vt:lpstr>
      <vt:lpstr>1. Asymmetric Encryption/Decryption </vt:lpstr>
      <vt:lpstr>Asymmetric Encryption </vt:lpstr>
      <vt:lpstr>Advantage of Asymmetric Encryption</vt:lpstr>
      <vt:lpstr>Examples of Asymmetric Encryption Algorithms</vt:lpstr>
      <vt:lpstr>A Glimpse of the RSA Encryption</vt:lpstr>
      <vt:lpstr>One Problem: Authentication</vt:lpstr>
      <vt:lpstr>2. Key Agreement (Exchange) Protocols</vt:lpstr>
      <vt:lpstr>Key Agreement Protocols</vt:lpstr>
      <vt:lpstr>Key Agreement</vt:lpstr>
      <vt:lpstr>Examples of Key Agreement Schemes</vt:lpstr>
      <vt:lpstr>Use of Key Agreement Protocols</vt:lpstr>
      <vt:lpstr>Man in the Middle (MITM) Attack</vt:lpstr>
      <vt:lpstr>Another Problem: Integrity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SECURITY</dc:title>
  <dc:creator>csu</dc:creator>
  <cp:lastModifiedBy>Christine Hosler</cp:lastModifiedBy>
  <cp:revision>91</cp:revision>
  <dcterms:modified xsi:type="dcterms:W3CDTF">2017-03-09T19:10:36Z</dcterms:modified>
</cp:coreProperties>
</file>